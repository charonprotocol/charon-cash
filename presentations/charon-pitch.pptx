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Charon. Money no one can see. Private sends, private swaps, private payroll, all on Solana.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payment on Solana is public, permanently: salaries, trades, treasury, all searchable by anyone, forever. Nobody opted into total transparency. It's why serious money still stays off-chain.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Charon Cash is one shielded balance with three moves. Send: private transfers, nothing visible. Pay: one CSV, one signature, the whole team, salaries invisible on-chain. Swap: same balance. All three are in beta on devnet today. Deposit once, balances become encrypted notes, proofs are made on your own device, and the relayer broadcasts transactions without holding any keys.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measured, not promised. The protocol proves itself at scale: a hundred private payouts in about eighty seconds, end to end, zero failures. Each zero-knowledge proof is made in the browser in about a second, fast by any yardstick in the field. One signature funds the whole run. Payroll is just the first use case: the same engine carries send and swap.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now: stablecoins are a $320B market moving four and a half trillion a quarter, and people want that money on-chain without exposing it. The field proves demand: Privacy Cash has routed over five hundred million dollars in private volume and earns fees tracked on DefiLlama; Cloak shipped private payroll on Solana mainnet in September 2026; Umbra runs shielded pools and private vesting on Solana. Across the category, more than nine hundred and fifty million dollars is locked in private protocols today, tracked on DefiLlama.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we win: our Groth16 proving runs in the browser in about a second; Aztec is around seven seconds, Zcash around forty. A private transfer burns about a hundred and thirty-six thousand compute units, thirty to forty-five percent of what others in the space burn, so fees stay at Solana level. The on-chain program is 65 kilobytes, so privacy runs at Solana cost. And the whole stack, program, circuits, SDK, relayer, is built in-house, so we can move fast and fix anything ourselves. Payroll that's crash-safe and can't double-pay. All built from zero, in months.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this goes. Now: live on devnet, all three moves, measured. Next: closed beta with real teams, and an independent security audit so the privacy is verifiable, not just promised. Then: mainnet beta, payroll as the flagship use case. Beyond: the SDK, so any app can ship private payments on Charon.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of us, all technical, and the whole stack was built by the four of us. Before Charon I built SolStudio, with fifty plus users. Namay, Accel-plus builder at Turbine, full-stack. Vedansh, Turbine grad and certified auditor. Prasang, Solana security and certified auditor, the deepest Pinocchio person I know, which is exactly what our program is written 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Charon: money no one can see. Send, swap, pay: one shielded balance, fast proving, built from zero. Find us at charon.cash and @Charon_cash.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804672" y="1371600"/>
            <a:ext cx="7315200" cy="548640"/>
          </a:xfrm>
          <a:prstGeom prst="rect">
            <a:avLst/>
          </a:prstGeom>
          <a:noFill/>
        </p:spPr>
        <p:txBody>
          <a:bodyPr wrap="square" anchor="t" lIns="0" rIns="0" tIns="0" bIns="0">
            <a:spAutoFit/>
          </a:bodyPr>
          <a:lstStyle/>
          <a:p>
            <a:pPr algn="l">
              <a:spcAft>
                <a:spcPts val="0"/>
              </a:spcAft>
            </a:pPr>
            <a:r>
              <a:rPr sz="2600" b="1">
                <a:solidFill>
                  <a:srgbClr val="10151E"/>
                </a:solidFill>
                <a:latin typeface="Montserrat"/>
              </a:rPr>
              <a:t>C H A R O N</a:t>
            </a:r>
          </a:p>
        </p:txBody>
      </p:sp>
      <p:sp>
        <p:nvSpPr>
          <p:cNvPr id="3" name="TextBox 2"/>
          <p:cNvSpPr txBox="1"/>
          <p:nvPr/>
        </p:nvSpPr>
        <p:spPr>
          <a:xfrm>
            <a:off x="749808" y="1965960"/>
            <a:ext cx="10972800" cy="4206240"/>
          </a:xfrm>
          <a:prstGeom prst="rect">
            <a:avLst/>
          </a:prstGeom>
          <a:noFill/>
        </p:spPr>
        <p:txBody>
          <a:bodyPr wrap="square" anchor="t" lIns="0" rIns="0" tIns="0" bIns="0">
            <a:spAutoFit/>
          </a:bodyPr>
          <a:lstStyle/>
          <a:p>
            <a:pPr algn="l">
              <a:lnSpc>
                <a:spcPct val="98000"/>
              </a:lnSpc>
              <a:spcAft>
                <a:spcPts val="0"/>
              </a:spcAft>
            </a:pPr>
            <a:r>
              <a:rPr sz="8600" b="1">
                <a:solidFill>
                  <a:srgbClr val="10151E"/>
                </a:solidFill>
                <a:latin typeface="Montserrat"/>
              </a:rPr>
              <a:t>MONEY</a:t>
            </a:r>
          </a:p>
          <a:p>
            <a:pPr algn="l">
              <a:lnSpc>
                <a:spcPct val="98000"/>
              </a:lnSpc>
              <a:spcAft>
                <a:spcPts val="0"/>
              </a:spcAft>
            </a:pPr>
            <a:r>
              <a:rPr sz="8600" b="1">
                <a:solidFill>
                  <a:srgbClr val="C4CFE2"/>
                </a:solidFill>
                <a:latin typeface="Montserrat"/>
              </a:rPr>
              <a:t>NO ONE</a:t>
            </a:r>
          </a:p>
          <a:p>
            <a:pPr algn="l">
              <a:lnSpc>
                <a:spcPct val="98000"/>
              </a:lnSpc>
              <a:spcAft>
                <a:spcPts val="0"/>
              </a:spcAft>
            </a:pPr>
            <a:r>
              <a:rPr sz="8600" b="1">
                <a:solidFill>
                  <a:srgbClr val="10151E"/>
                </a:solidFill>
                <a:latin typeface="Montserrat"/>
              </a:rPr>
              <a:t>CAN SEE</a:t>
            </a:r>
          </a:p>
        </p:txBody>
      </p:sp>
      <p:sp>
        <p:nvSpPr>
          <p:cNvPr id="4" name="TextBox 3"/>
          <p:cNvSpPr txBox="1"/>
          <p:nvPr/>
        </p:nvSpPr>
        <p:spPr>
          <a:xfrm>
            <a:off x="822960" y="6355080"/>
            <a:ext cx="1371600" cy="274320"/>
          </a:xfrm>
          <a:prstGeom prst="rect">
            <a:avLst/>
          </a:prstGeom>
          <a:noFill/>
        </p:spPr>
        <p:txBody>
          <a:bodyPr wrap="square" anchor="t" lIns="0" rIns="0" tIns="0" bIns="0">
            <a:spAutoFit/>
          </a:bodyPr>
          <a:lstStyle/>
          <a:p>
            <a:pPr algn="l">
              <a:spcAft>
                <a:spcPts val="0"/>
              </a:spcAft>
            </a:pPr>
            <a:r>
              <a:rPr sz="1100" b="0">
                <a:solidFill>
                  <a:srgbClr val="7C89A0"/>
                </a:solidFill>
                <a:latin typeface="IBM Plex Mono"/>
              </a:rPr>
              <a:t>01 / 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pic>
        <p:nvPicPr>
          <p:cNvPr id="2" name="Picture 1" descr="pitch-img-logo.png"/>
          <p:cNvPicPr>
            <a:picLocks noChangeAspect="1"/>
          </p:cNvPicPr>
          <p:nvPr/>
        </p:nvPicPr>
        <p:blipFill>
          <a:blip r:embed="rId3"/>
          <a:stretch>
            <a:fillRect/>
          </a:stretch>
        </p:blipFill>
        <p:spPr>
          <a:xfrm>
            <a:off x="822960" y="384048"/>
            <a:ext cx="292608" cy="292608"/>
          </a:xfrm>
          <a:prstGeom prst="rect">
            <a:avLst/>
          </a:prstGeom>
        </p:spPr>
      </p:pic>
      <p:sp>
        <p:nvSpPr>
          <p:cNvPr id="3" name="TextBox 2"/>
          <p:cNvSpPr txBox="1"/>
          <p:nvPr/>
        </p:nvSpPr>
        <p:spPr>
          <a:xfrm>
            <a:off x="1207008" y="411480"/>
            <a:ext cx="2743200" cy="274320"/>
          </a:xfrm>
          <a:prstGeom prst="rect">
            <a:avLst/>
          </a:prstGeom>
          <a:noFill/>
        </p:spPr>
        <p:txBody>
          <a:bodyPr wrap="square" anchor="t" lIns="0" rIns="0" tIns="0" bIns="0">
            <a:spAutoFit/>
          </a:bodyPr>
          <a:lstStyle/>
          <a:p>
            <a:pPr algn="l">
              <a:spcAft>
                <a:spcPts val="0"/>
              </a:spcAft>
            </a:pPr>
            <a:r>
              <a:rPr sz="1200" b="1">
                <a:solidFill>
                  <a:srgbClr val="10151E"/>
                </a:solidFill>
                <a:latin typeface="Space Grotesk"/>
              </a:rPr>
              <a:t>CHARON</a:t>
            </a:r>
          </a:p>
        </p:txBody>
      </p:sp>
      <p:sp>
        <p:nvSpPr>
          <p:cNvPr id="4" name="TextBox 3"/>
          <p:cNvSpPr txBox="1"/>
          <p:nvPr/>
        </p:nvSpPr>
        <p:spPr>
          <a:xfrm>
            <a:off x="10058400" y="411480"/>
            <a:ext cx="1307592" cy="274320"/>
          </a:xfrm>
          <a:prstGeom prst="rect">
            <a:avLst/>
          </a:prstGeom>
          <a:noFill/>
        </p:spPr>
        <p:txBody>
          <a:bodyPr wrap="square" anchor="t" lIns="0" rIns="0" tIns="0" bIns="0">
            <a:spAutoFit/>
          </a:bodyPr>
          <a:lstStyle/>
          <a:p>
            <a:pPr algn="r">
              <a:spcAft>
                <a:spcPts val="0"/>
              </a:spcAft>
            </a:pPr>
            <a:r>
              <a:rPr sz="1100" b="0">
                <a:solidFill>
                  <a:srgbClr val="7C89A0"/>
                </a:solidFill>
                <a:latin typeface="IBM Plex Mono"/>
              </a:rPr>
              <a:t>02 · 09</a:t>
            </a:r>
          </a:p>
        </p:txBody>
      </p:sp>
      <p:sp>
        <p:nvSpPr>
          <p:cNvPr id="5" name="TextBox 4"/>
          <p:cNvSpPr txBox="1"/>
          <p:nvPr/>
        </p:nvSpPr>
        <p:spPr>
          <a:xfrm>
            <a:off x="822960" y="987552"/>
            <a:ext cx="7315200" cy="292608"/>
          </a:xfrm>
          <a:prstGeom prst="rect">
            <a:avLst/>
          </a:prstGeom>
          <a:noFill/>
        </p:spPr>
        <p:txBody>
          <a:bodyPr wrap="square" anchor="t" lIns="0" rIns="0" tIns="0" bIns="0">
            <a:spAutoFit/>
          </a:bodyPr>
          <a:lstStyle/>
          <a:p>
            <a:pPr algn="l">
              <a:spcAft>
                <a:spcPts val="0"/>
              </a:spcAft>
            </a:pPr>
            <a:r>
              <a:rPr sz="1300" b="0">
                <a:solidFill>
                  <a:srgbClr val="35618F"/>
                </a:solidFill>
                <a:latin typeface="IBM Plex Mono"/>
              </a:rPr>
              <a:t>THE PROBLEM</a:t>
            </a:r>
          </a:p>
        </p:txBody>
      </p:sp>
      <p:sp>
        <p:nvSpPr>
          <p:cNvPr id="6" name="TextBox 5"/>
          <p:cNvSpPr txBox="1"/>
          <p:nvPr/>
        </p:nvSpPr>
        <p:spPr>
          <a:xfrm>
            <a:off x="795528" y="1298448"/>
            <a:ext cx="10698480" cy="1828800"/>
          </a:xfrm>
          <a:prstGeom prst="rect">
            <a:avLst/>
          </a:prstGeom>
          <a:noFill/>
        </p:spPr>
        <p:txBody>
          <a:bodyPr wrap="square" anchor="t" lIns="0" rIns="0" tIns="0" bIns="0">
            <a:spAutoFit/>
          </a:bodyPr>
          <a:lstStyle/>
          <a:p>
            <a:pPr algn="l">
              <a:lnSpc>
                <a:spcPct val="102000"/>
              </a:lnSpc>
              <a:spcAft>
                <a:spcPts val="0"/>
              </a:spcAft>
            </a:pPr>
            <a:r>
              <a:rPr sz="4000" b="1">
                <a:solidFill>
                  <a:srgbClr val="10151E"/>
                </a:solidFill>
                <a:latin typeface="Montserrat"/>
              </a:rPr>
              <a:t>Every payment on Solana</a:t>
            </a:r>
          </a:p>
          <a:p>
            <a:pPr algn="l">
              <a:lnSpc>
                <a:spcPct val="102000"/>
              </a:lnSpc>
              <a:spcAft>
                <a:spcPts val="0"/>
              </a:spcAft>
            </a:pPr>
            <a:r>
              <a:rPr sz="4000" b="1">
                <a:solidFill>
                  <a:srgbClr val="35618F"/>
                </a:solidFill>
                <a:latin typeface="Montserrat"/>
              </a:rPr>
              <a:t>is public forever.</a:t>
            </a:r>
          </a:p>
        </p:txBody>
      </p:sp>
      <p:sp>
        <p:nvSpPr>
          <p:cNvPr id="7" name="Rectangle 6"/>
          <p:cNvSpPr/>
          <p:nvPr/>
        </p:nvSpPr>
        <p:spPr>
          <a:xfrm>
            <a:off x="822960" y="3017520"/>
            <a:ext cx="10543032" cy="12700"/>
          </a:xfrm>
          <a:prstGeom prst="rect">
            <a:avLst/>
          </a:prstGeom>
          <a:solidFill>
            <a:srgbClr val="DC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3218688"/>
            <a:ext cx="548640" cy="457200"/>
          </a:xfrm>
          <a:prstGeom prst="rect">
            <a:avLst/>
          </a:prstGeom>
          <a:noFill/>
        </p:spPr>
        <p:txBody>
          <a:bodyPr wrap="square" anchor="t" lIns="0" rIns="0" tIns="0" bIns="0">
            <a:spAutoFit/>
          </a:bodyPr>
          <a:lstStyle/>
          <a:p>
            <a:pPr algn="l">
              <a:spcAft>
                <a:spcPts val="0"/>
              </a:spcAft>
            </a:pPr>
            <a:r>
              <a:rPr sz="1500" b="1">
                <a:solidFill>
                  <a:srgbClr val="35618F"/>
                </a:solidFill>
                <a:latin typeface="IBM Plex Mono"/>
              </a:rPr>
              <a:t>01</a:t>
            </a:r>
          </a:p>
        </p:txBody>
      </p:sp>
      <p:sp>
        <p:nvSpPr>
          <p:cNvPr id="9" name="TextBox 8"/>
          <p:cNvSpPr txBox="1"/>
          <p:nvPr/>
        </p:nvSpPr>
        <p:spPr>
          <a:xfrm>
            <a:off x="1508760" y="3182112"/>
            <a:ext cx="9784080" cy="868680"/>
          </a:xfrm>
          <a:prstGeom prst="rect">
            <a:avLst/>
          </a:prstGeom>
          <a:noFill/>
        </p:spPr>
        <p:txBody>
          <a:bodyPr wrap="square" anchor="t" lIns="0" rIns="0" tIns="0" bIns="0">
            <a:spAutoFit/>
          </a:bodyPr>
          <a:lstStyle/>
          <a:p>
            <a:pPr algn="l">
              <a:spcAft>
                <a:spcPts val="0"/>
              </a:spcAft>
            </a:pPr>
            <a:r>
              <a:rPr sz="1700" b="1">
                <a:solidFill>
                  <a:srgbClr val="10151E"/>
                </a:solidFill>
                <a:latin typeface="Space Grotesk"/>
              </a:rPr>
              <a:t>Transfers are permanent, indexed, searchable</a:t>
            </a:r>
          </a:p>
          <a:p>
            <a:pPr algn="l">
              <a:spcAft>
                <a:spcPts val="0"/>
              </a:spcAft>
            </a:pPr>
            <a:r>
              <a:rPr sz="1350" b="0">
                <a:solidFill>
                  <a:srgbClr val="7C89A0"/>
                </a:solidFill>
                <a:latin typeface="Space Grotesk"/>
              </a:rPr>
              <a:t>anyone can screenshot your money</a:t>
            </a:r>
          </a:p>
        </p:txBody>
      </p:sp>
      <p:sp>
        <p:nvSpPr>
          <p:cNvPr id="10" name="Rectangle 9"/>
          <p:cNvSpPr/>
          <p:nvPr/>
        </p:nvSpPr>
        <p:spPr>
          <a:xfrm>
            <a:off x="822960" y="4096511"/>
            <a:ext cx="10543032" cy="12700"/>
          </a:xfrm>
          <a:prstGeom prst="rect">
            <a:avLst/>
          </a:prstGeom>
          <a:solidFill>
            <a:srgbClr val="DC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4297679"/>
            <a:ext cx="548640" cy="457200"/>
          </a:xfrm>
          <a:prstGeom prst="rect">
            <a:avLst/>
          </a:prstGeom>
          <a:noFill/>
        </p:spPr>
        <p:txBody>
          <a:bodyPr wrap="square" anchor="t" lIns="0" rIns="0" tIns="0" bIns="0">
            <a:spAutoFit/>
          </a:bodyPr>
          <a:lstStyle/>
          <a:p>
            <a:pPr algn="l">
              <a:spcAft>
                <a:spcPts val="0"/>
              </a:spcAft>
            </a:pPr>
            <a:r>
              <a:rPr sz="1500" b="1">
                <a:solidFill>
                  <a:srgbClr val="35618F"/>
                </a:solidFill>
                <a:latin typeface="IBM Plex Mono"/>
              </a:rPr>
              <a:t>02</a:t>
            </a:r>
          </a:p>
        </p:txBody>
      </p:sp>
      <p:sp>
        <p:nvSpPr>
          <p:cNvPr id="12" name="TextBox 11"/>
          <p:cNvSpPr txBox="1"/>
          <p:nvPr/>
        </p:nvSpPr>
        <p:spPr>
          <a:xfrm>
            <a:off x="1508760" y="4261103"/>
            <a:ext cx="9784080" cy="868680"/>
          </a:xfrm>
          <a:prstGeom prst="rect">
            <a:avLst/>
          </a:prstGeom>
          <a:noFill/>
        </p:spPr>
        <p:txBody>
          <a:bodyPr wrap="square" anchor="t" lIns="0" rIns="0" tIns="0" bIns="0">
            <a:spAutoFit/>
          </a:bodyPr>
          <a:lstStyle/>
          <a:p>
            <a:pPr algn="l">
              <a:spcAft>
                <a:spcPts val="0"/>
              </a:spcAft>
            </a:pPr>
            <a:r>
              <a:rPr sz="1700" b="1">
                <a:solidFill>
                  <a:srgbClr val="10151E"/>
                </a:solidFill>
                <a:latin typeface="Space Grotesk"/>
              </a:rPr>
              <a:t>Salaries, payments, treasury: exposed</a:t>
            </a:r>
          </a:p>
          <a:p>
            <a:pPr algn="l">
              <a:spcAft>
                <a:spcPts val="0"/>
              </a:spcAft>
            </a:pPr>
            <a:r>
              <a:rPr sz="1350" b="0">
                <a:solidFill>
                  <a:srgbClr val="7C89A0"/>
                </a:solidFill>
                <a:latin typeface="Space Grotesk"/>
              </a:rPr>
              <a:t>competitors, data brokers, anyone</a:t>
            </a:r>
          </a:p>
        </p:txBody>
      </p:sp>
      <p:sp>
        <p:nvSpPr>
          <p:cNvPr id="13" name="Rectangle 12"/>
          <p:cNvSpPr/>
          <p:nvPr/>
        </p:nvSpPr>
        <p:spPr>
          <a:xfrm>
            <a:off x="822960" y="5175503"/>
            <a:ext cx="10543032" cy="12700"/>
          </a:xfrm>
          <a:prstGeom prst="rect">
            <a:avLst/>
          </a:prstGeom>
          <a:solidFill>
            <a:srgbClr val="DC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5376671"/>
            <a:ext cx="548640" cy="457200"/>
          </a:xfrm>
          <a:prstGeom prst="rect">
            <a:avLst/>
          </a:prstGeom>
          <a:noFill/>
        </p:spPr>
        <p:txBody>
          <a:bodyPr wrap="square" anchor="t" lIns="0" rIns="0" tIns="0" bIns="0">
            <a:spAutoFit/>
          </a:bodyPr>
          <a:lstStyle/>
          <a:p>
            <a:pPr algn="l">
              <a:spcAft>
                <a:spcPts val="0"/>
              </a:spcAft>
            </a:pPr>
            <a:r>
              <a:rPr sz="1500" b="1">
                <a:solidFill>
                  <a:srgbClr val="35618F"/>
                </a:solidFill>
                <a:latin typeface="IBM Plex Mono"/>
              </a:rPr>
              <a:t>03</a:t>
            </a:r>
          </a:p>
        </p:txBody>
      </p:sp>
      <p:sp>
        <p:nvSpPr>
          <p:cNvPr id="15" name="TextBox 14"/>
          <p:cNvSpPr txBox="1"/>
          <p:nvPr/>
        </p:nvSpPr>
        <p:spPr>
          <a:xfrm>
            <a:off x="1508760" y="5340095"/>
            <a:ext cx="9784080" cy="868680"/>
          </a:xfrm>
          <a:prstGeom prst="rect">
            <a:avLst/>
          </a:prstGeom>
          <a:noFill/>
        </p:spPr>
        <p:txBody>
          <a:bodyPr wrap="square" anchor="t" lIns="0" rIns="0" tIns="0" bIns="0">
            <a:spAutoFit/>
          </a:bodyPr>
          <a:lstStyle/>
          <a:p>
            <a:pPr algn="l">
              <a:spcAft>
                <a:spcPts val="0"/>
              </a:spcAft>
            </a:pPr>
            <a:r>
              <a:rPr sz="1700" b="1">
                <a:solidFill>
                  <a:srgbClr val="10151E"/>
                </a:solidFill>
                <a:latin typeface="Space Grotesk"/>
              </a:rPr>
              <a:t>Nobody opted into total transparency</a:t>
            </a:r>
          </a:p>
          <a:p>
            <a:pPr algn="l">
              <a:spcAft>
                <a:spcPts val="0"/>
              </a:spcAft>
            </a:pPr>
            <a:r>
              <a:rPr sz="1350" b="0">
                <a:solidFill>
                  <a:srgbClr val="7C89A0"/>
                </a:solidFill>
                <a:latin typeface="Space Grotesk"/>
              </a:rPr>
              <a:t>so money stays off-chain today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pic>
        <p:nvPicPr>
          <p:cNvPr id="2" name="Picture 1" descr="pitch-img-logo.png"/>
          <p:cNvPicPr>
            <a:picLocks noChangeAspect="1"/>
          </p:cNvPicPr>
          <p:nvPr/>
        </p:nvPicPr>
        <p:blipFill>
          <a:blip r:embed="rId3"/>
          <a:stretch>
            <a:fillRect/>
          </a:stretch>
        </p:blipFill>
        <p:spPr>
          <a:xfrm>
            <a:off x="822960" y="384048"/>
            <a:ext cx="292608" cy="292608"/>
          </a:xfrm>
          <a:prstGeom prst="rect">
            <a:avLst/>
          </a:prstGeom>
        </p:spPr>
      </p:pic>
      <p:sp>
        <p:nvSpPr>
          <p:cNvPr id="3" name="TextBox 2"/>
          <p:cNvSpPr txBox="1"/>
          <p:nvPr/>
        </p:nvSpPr>
        <p:spPr>
          <a:xfrm>
            <a:off x="1207008" y="411480"/>
            <a:ext cx="2743200" cy="274320"/>
          </a:xfrm>
          <a:prstGeom prst="rect">
            <a:avLst/>
          </a:prstGeom>
          <a:noFill/>
        </p:spPr>
        <p:txBody>
          <a:bodyPr wrap="square" anchor="t" lIns="0" rIns="0" tIns="0" bIns="0">
            <a:spAutoFit/>
          </a:bodyPr>
          <a:lstStyle/>
          <a:p>
            <a:pPr algn="l">
              <a:spcAft>
                <a:spcPts val="0"/>
              </a:spcAft>
            </a:pPr>
            <a:r>
              <a:rPr sz="1200" b="1">
                <a:solidFill>
                  <a:srgbClr val="10151E"/>
                </a:solidFill>
                <a:latin typeface="Space Grotesk"/>
              </a:rPr>
              <a:t>CHARON</a:t>
            </a:r>
          </a:p>
        </p:txBody>
      </p:sp>
      <p:sp>
        <p:nvSpPr>
          <p:cNvPr id="4" name="TextBox 3"/>
          <p:cNvSpPr txBox="1"/>
          <p:nvPr/>
        </p:nvSpPr>
        <p:spPr>
          <a:xfrm>
            <a:off x="10058400" y="411480"/>
            <a:ext cx="1307592" cy="274320"/>
          </a:xfrm>
          <a:prstGeom prst="rect">
            <a:avLst/>
          </a:prstGeom>
          <a:noFill/>
        </p:spPr>
        <p:txBody>
          <a:bodyPr wrap="square" anchor="t" lIns="0" rIns="0" tIns="0" bIns="0">
            <a:spAutoFit/>
          </a:bodyPr>
          <a:lstStyle/>
          <a:p>
            <a:pPr algn="r">
              <a:spcAft>
                <a:spcPts val="0"/>
              </a:spcAft>
            </a:pPr>
            <a:r>
              <a:rPr sz="1100" b="0">
                <a:solidFill>
                  <a:srgbClr val="7C89A0"/>
                </a:solidFill>
                <a:latin typeface="IBM Plex Mono"/>
              </a:rPr>
              <a:t>03 · 09</a:t>
            </a:r>
          </a:p>
        </p:txBody>
      </p:sp>
      <p:sp>
        <p:nvSpPr>
          <p:cNvPr id="5" name="TextBox 4"/>
          <p:cNvSpPr txBox="1"/>
          <p:nvPr/>
        </p:nvSpPr>
        <p:spPr>
          <a:xfrm>
            <a:off x="822960" y="987552"/>
            <a:ext cx="7315200" cy="292608"/>
          </a:xfrm>
          <a:prstGeom prst="rect">
            <a:avLst/>
          </a:prstGeom>
          <a:noFill/>
        </p:spPr>
        <p:txBody>
          <a:bodyPr wrap="square" anchor="t" lIns="0" rIns="0" tIns="0" bIns="0">
            <a:spAutoFit/>
          </a:bodyPr>
          <a:lstStyle/>
          <a:p>
            <a:pPr algn="l">
              <a:spcAft>
                <a:spcPts val="0"/>
              </a:spcAft>
            </a:pPr>
            <a:r>
              <a:rPr sz="1300" b="0">
                <a:solidFill>
                  <a:srgbClr val="35618F"/>
                </a:solidFill>
                <a:latin typeface="IBM Plex Mono"/>
              </a:rPr>
              <a:t>CHARON CASH</a:t>
            </a:r>
          </a:p>
        </p:txBody>
      </p:sp>
      <p:sp>
        <p:nvSpPr>
          <p:cNvPr id="6" name="TextBox 5"/>
          <p:cNvSpPr txBox="1"/>
          <p:nvPr/>
        </p:nvSpPr>
        <p:spPr>
          <a:xfrm>
            <a:off x="795528" y="1298448"/>
            <a:ext cx="10698480" cy="1828800"/>
          </a:xfrm>
          <a:prstGeom prst="rect">
            <a:avLst/>
          </a:prstGeom>
          <a:noFill/>
        </p:spPr>
        <p:txBody>
          <a:bodyPr wrap="square" anchor="t" lIns="0" rIns="0" tIns="0" bIns="0">
            <a:spAutoFit/>
          </a:bodyPr>
          <a:lstStyle/>
          <a:p>
            <a:pPr algn="l">
              <a:lnSpc>
                <a:spcPct val="102000"/>
              </a:lnSpc>
              <a:spcAft>
                <a:spcPts val="0"/>
              </a:spcAft>
            </a:pPr>
            <a:r>
              <a:rPr sz="4000" b="1">
                <a:solidFill>
                  <a:srgbClr val="10151E"/>
                </a:solidFill>
                <a:latin typeface="Montserrat"/>
              </a:rPr>
              <a:t>One shielded balance.</a:t>
            </a:r>
          </a:p>
          <a:p>
            <a:pPr algn="l">
              <a:lnSpc>
                <a:spcPct val="102000"/>
              </a:lnSpc>
              <a:spcAft>
                <a:spcPts val="0"/>
              </a:spcAft>
            </a:pPr>
            <a:r>
              <a:rPr sz="4000" b="1">
                <a:solidFill>
                  <a:srgbClr val="35618F"/>
                </a:solidFill>
                <a:latin typeface="Montserrat"/>
              </a:rPr>
              <a:t>Three moves.</a:t>
            </a:r>
          </a:p>
        </p:txBody>
      </p:sp>
      <p:sp>
        <p:nvSpPr>
          <p:cNvPr id="7" name="Rounded Rectangle 6"/>
          <p:cNvSpPr/>
          <p:nvPr/>
        </p:nvSpPr>
        <p:spPr>
          <a:xfrm>
            <a:off x="822960" y="2834640"/>
            <a:ext cx="3419856" cy="1874519"/>
          </a:xfrm>
          <a:prstGeom prst="roundRect">
            <a:avLst>
              <a:gd name="adj" fmla="val 5500"/>
            </a:avLst>
          </a:prstGeom>
          <a:solidFill>
            <a:srgbClr val="FFFFFF"/>
          </a:solidFill>
          <a:ln w="12700">
            <a:solidFill>
              <a:srgbClr val="DCE2EC"/>
            </a:solidFill>
          </a:ln>
          <a:effectLst/>
        </p:spPr>
        <p:style>
          <a:lnRef idx="1">
            <a:schemeClr val="accent1"/>
          </a:lnRef>
          <a:fillRef idx="3">
            <a:schemeClr val="accent1"/>
          </a:fillRef>
          <a:effectRef idx="2">
            <a:schemeClr val="accent1"/>
          </a:effectRef>
          <a:fontRef idx="minor">
            <a:schemeClr val="lt1"/>
          </a:fontRef>
        </p:style>
        <p:txBody>
          <a:bodyPr rtlCol="0" anchor="t" wrap="square" lIns="219456" rIns="219456" tIns="155448" bIns="155448"/>
          <a:lstStyle/>
          <a:p>
            <a:pPr algn="l">
              <a:spcAft>
                <a:spcPts val="700"/>
              </a:spcAft>
            </a:pPr>
            <a:r>
              <a:rPr sz="1000" b="1">
                <a:solidFill>
                  <a:srgbClr val="27825A"/>
                </a:solidFill>
                <a:latin typeface="IBM Plex Mono"/>
              </a:rPr>
              <a:t>● </a:t>
            </a:r>
            <a:r>
              <a:rPr sz="1000" b="0">
                <a:solidFill>
                  <a:srgbClr val="27825A"/>
                </a:solidFill>
                <a:latin typeface="IBM Plex Mono"/>
              </a:rPr>
              <a:t>BETA</a:t>
            </a:r>
          </a:p>
          <a:p>
            <a:pPr algn="l">
              <a:spcAft>
                <a:spcPts val="600"/>
              </a:spcAft>
            </a:pPr>
            <a:r>
              <a:rPr sz="2200" b="1">
                <a:solidFill>
                  <a:srgbClr val="10151E"/>
                </a:solidFill>
                <a:latin typeface="Montserrat"/>
              </a:rPr>
              <a:t>SEND</a:t>
            </a:r>
          </a:p>
          <a:p>
            <a:pPr algn="l">
              <a:spcAft>
                <a:spcPts val="0"/>
              </a:spcAft>
            </a:pPr>
            <a:r>
              <a:rPr sz="1250" b="0">
                <a:solidFill>
                  <a:srgbClr val="46536B"/>
                </a:solidFill>
                <a:latin typeface="Space Grotesk"/>
              </a:rPr>
              <a:t>Private transfers. Amount and recipient never appear on-chain.</a:t>
            </a:r>
          </a:p>
        </p:txBody>
      </p:sp>
      <p:sp>
        <p:nvSpPr>
          <p:cNvPr id="8" name="Rounded Rectangle 7"/>
          <p:cNvSpPr/>
          <p:nvPr/>
        </p:nvSpPr>
        <p:spPr>
          <a:xfrm>
            <a:off x="4425696" y="2834640"/>
            <a:ext cx="3419856" cy="1874519"/>
          </a:xfrm>
          <a:prstGeom prst="roundRect">
            <a:avLst>
              <a:gd name="adj" fmla="val 5500"/>
            </a:avLst>
          </a:prstGeom>
          <a:solidFill>
            <a:srgbClr val="FFFFFF"/>
          </a:solidFill>
          <a:ln w="12700">
            <a:solidFill>
              <a:srgbClr val="DCE2EC"/>
            </a:solidFill>
          </a:ln>
          <a:effectLst/>
        </p:spPr>
        <p:style>
          <a:lnRef idx="1">
            <a:schemeClr val="accent1"/>
          </a:lnRef>
          <a:fillRef idx="3">
            <a:schemeClr val="accent1"/>
          </a:fillRef>
          <a:effectRef idx="2">
            <a:schemeClr val="accent1"/>
          </a:effectRef>
          <a:fontRef idx="minor">
            <a:schemeClr val="lt1"/>
          </a:fontRef>
        </p:style>
        <p:txBody>
          <a:bodyPr rtlCol="0" anchor="t" wrap="square" lIns="219456" rIns="219456" tIns="155448" bIns="155448"/>
          <a:lstStyle/>
          <a:p>
            <a:pPr algn="l">
              <a:spcAft>
                <a:spcPts val="700"/>
              </a:spcAft>
            </a:pPr>
            <a:r>
              <a:rPr sz="1000" b="1">
                <a:solidFill>
                  <a:srgbClr val="27825A"/>
                </a:solidFill>
                <a:latin typeface="IBM Plex Mono"/>
              </a:rPr>
              <a:t>● </a:t>
            </a:r>
            <a:r>
              <a:rPr sz="1000" b="0">
                <a:solidFill>
                  <a:srgbClr val="27825A"/>
                </a:solidFill>
                <a:latin typeface="IBM Plex Mono"/>
              </a:rPr>
              <a:t>BETA</a:t>
            </a:r>
          </a:p>
          <a:p>
            <a:pPr algn="l">
              <a:spcAft>
                <a:spcPts val="600"/>
              </a:spcAft>
            </a:pPr>
            <a:r>
              <a:rPr sz="2200" b="1">
                <a:solidFill>
                  <a:srgbClr val="10151E"/>
                </a:solidFill>
                <a:latin typeface="Montserrat"/>
              </a:rPr>
              <a:t>PAY</a:t>
            </a:r>
          </a:p>
          <a:p>
            <a:pPr algn="l">
              <a:spcAft>
                <a:spcPts val="0"/>
              </a:spcAft>
            </a:pPr>
            <a:r>
              <a:rPr sz="1250" b="0">
                <a:solidFill>
                  <a:srgbClr val="46536B"/>
                </a:solidFill>
                <a:latin typeface="Space Grotesk"/>
              </a:rPr>
              <a:t>One CSV, one signature. Your whole team paid. Salaries invisible.</a:t>
            </a:r>
          </a:p>
        </p:txBody>
      </p:sp>
      <p:sp>
        <p:nvSpPr>
          <p:cNvPr id="9" name="Rounded Rectangle 8"/>
          <p:cNvSpPr/>
          <p:nvPr/>
        </p:nvSpPr>
        <p:spPr>
          <a:xfrm>
            <a:off x="8028431" y="2834640"/>
            <a:ext cx="3419856" cy="1874519"/>
          </a:xfrm>
          <a:prstGeom prst="roundRect">
            <a:avLst>
              <a:gd name="adj" fmla="val 5500"/>
            </a:avLst>
          </a:prstGeom>
          <a:solidFill>
            <a:srgbClr val="FFFFFF"/>
          </a:solidFill>
          <a:ln w="12700">
            <a:solidFill>
              <a:srgbClr val="DCE2EC"/>
            </a:solidFill>
          </a:ln>
          <a:effectLst/>
        </p:spPr>
        <p:style>
          <a:lnRef idx="1">
            <a:schemeClr val="accent1"/>
          </a:lnRef>
          <a:fillRef idx="3">
            <a:schemeClr val="accent1"/>
          </a:fillRef>
          <a:effectRef idx="2">
            <a:schemeClr val="accent1"/>
          </a:effectRef>
          <a:fontRef idx="minor">
            <a:schemeClr val="lt1"/>
          </a:fontRef>
        </p:style>
        <p:txBody>
          <a:bodyPr rtlCol="0" anchor="t" wrap="square" lIns="219456" rIns="219456" tIns="155448" bIns="155448"/>
          <a:lstStyle/>
          <a:p>
            <a:pPr algn="l">
              <a:spcAft>
                <a:spcPts val="700"/>
              </a:spcAft>
            </a:pPr>
            <a:r>
              <a:rPr sz="1000" b="1">
                <a:solidFill>
                  <a:srgbClr val="27825A"/>
                </a:solidFill>
                <a:latin typeface="IBM Plex Mono"/>
              </a:rPr>
              <a:t>● </a:t>
            </a:r>
            <a:r>
              <a:rPr sz="1000" b="0">
                <a:solidFill>
                  <a:srgbClr val="27825A"/>
                </a:solidFill>
                <a:latin typeface="IBM Plex Mono"/>
              </a:rPr>
              <a:t>BETA</a:t>
            </a:r>
          </a:p>
          <a:p>
            <a:pPr algn="l">
              <a:spcAft>
                <a:spcPts val="600"/>
              </a:spcAft>
            </a:pPr>
            <a:r>
              <a:rPr sz="2200" b="1">
                <a:solidFill>
                  <a:srgbClr val="10151E"/>
                </a:solidFill>
                <a:latin typeface="Montserrat"/>
              </a:rPr>
              <a:t>SWAP</a:t>
            </a:r>
          </a:p>
          <a:p>
            <a:pPr algn="l">
              <a:spcAft>
                <a:spcPts val="0"/>
              </a:spcAft>
            </a:pPr>
            <a:r>
              <a:rPr sz="1250" b="0">
                <a:solidFill>
                  <a:srgbClr val="46536B"/>
                </a:solidFill>
                <a:latin typeface="Space Grotesk"/>
              </a:rPr>
              <a:t>Swap on the same shielded balance, shipping now. Nothing moves in public.</a:t>
            </a:r>
          </a:p>
        </p:txBody>
      </p:sp>
      <p:sp>
        <p:nvSpPr>
          <p:cNvPr id="10" name="TextBox 9"/>
          <p:cNvSpPr txBox="1"/>
          <p:nvPr/>
        </p:nvSpPr>
        <p:spPr>
          <a:xfrm>
            <a:off x="822960" y="5074920"/>
            <a:ext cx="10515600" cy="1097280"/>
          </a:xfrm>
          <a:prstGeom prst="rect">
            <a:avLst/>
          </a:prstGeom>
          <a:noFill/>
        </p:spPr>
        <p:txBody>
          <a:bodyPr wrap="square" anchor="t" lIns="0" rIns="0" tIns="0" bIns="0">
            <a:spAutoFit/>
          </a:bodyPr>
          <a:lstStyle/>
          <a:p>
            <a:pPr algn="l">
              <a:lnSpc>
                <a:spcPct val="150000"/>
              </a:lnSpc>
              <a:spcAft>
                <a:spcPts val="0"/>
              </a:spcAft>
            </a:pPr>
            <a:r>
              <a:rPr sz="1200" b="1">
                <a:solidFill>
                  <a:srgbClr val="35618F"/>
                </a:solidFill>
                <a:latin typeface="IBM Plex Mono"/>
              </a:rPr>
              <a:t>1 </a:t>
            </a:r>
            <a:r>
              <a:rPr sz="1200" b="0">
                <a:solidFill>
                  <a:srgbClr val="46536B"/>
                </a:solidFill>
                <a:latin typeface="IBM Plex Mono"/>
              </a:rPr>
              <a:t>deposit once</a:t>
            </a:r>
            <a:r>
              <a:rPr sz="1200" b="0">
                <a:solidFill>
                  <a:srgbClr val="7C89A0"/>
                </a:solidFill>
                <a:latin typeface="IBM Plex Mono"/>
              </a:rPr>
              <a:t>   →   </a:t>
            </a:r>
            <a:r>
              <a:rPr sz="1200" b="1">
                <a:solidFill>
                  <a:srgbClr val="35618F"/>
                </a:solidFill>
                <a:latin typeface="IBM Plex Mono"/>
              </a:rPr>
              <a:t>2 </a:t>
            </a:r>
            <a:r>
              <a:rPr sz="1200" b="0">
                <a:solidFill>
                  <a:srgbClr val="46536B"/>
                </a:solidFill>
                <a:latin typeface="IBM Plex Mono"/>
              </a:rPr>
              <a:t>balances become encrypted notes</a:t>
            </a:r>
            <a:r>
              <a:rPr sz="1200" b="0">
                <a:solidFill>
                  <a:srgbClr val="7C89A0"/>
                </a:solidFill>
                <a:latin typeface="IBM Plex Mono"/>
              </a:rPr>
              <a:t>   →   </a:t>
            </a:r>
            <a:r>
              <a:rPr sz="1200" b="1">
                <a:solidFill>
                  <a:srgbClr val="35618F"/>
                </a:solidFill>
                <a:latin typeface="IBM Plex Mono"/>
              </a:rPr>
              <a:t>3 </a:t>
            </a:r>
            <a:r>
              <a:rPr sz="1200" b="0">
                <a:solidFill>
                  <a:srgbClr val="46536B"/>
                </a:solidFill>
                <a:latin typeface="IBM Plex Mono"/>
              </a:rPr>
              <a:t>proofs made on your device</a:t>
            </a:r>
            <a:r>
              <a:rPr sz="1200" b="0">
                <a:solidFill>
                  <a:srgbClr val="7C89A0"/>
                </a:solidFill>
                <a:latin typeface="IBM Plex Mono"/>
              </a:rPr>
              <a:t>   →   </a:t>
            </a:r>
            <a:r>
              <a:rPr sz="1200" b="1">
                <a:solidFill>
                  <a:srgbClr val="35618F"/>
                </a:solidFill>
                <a:latin typeface="IBM Plex Mono"/>
              </a:rPr>
              <a:t>4 </a:t>
            </a:r>
            <a:r>
              <a:rPr sz="1200" b="0">
                <a:solidFill>
                  <a:srgbClr val="46536B"/>
                </a:solidFill>
                <a:latin typeface="IBM Plex Mono"/>
              </a:rPr>
              <a:t>relayer broadcasts, holds no keys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pic>
        <p:nvPicPr>
          <p:cNvPr id="2" name="Picture 1" descr="pitch-img-logo.png"/>
          <p:cNvPicPr>
            <a:picLocks noChangeAspect="1"/>
          </p:cNvPicPr>
          <p:nvPr/>
        </p:nvPicPr>
        <p:blipFill>
          <a:blip r:embed="rId3"/>
          <a:stretch>
            <a:fillRect/>
          </a:stretch>
        </p:blipFill>
        <p:spPr>
          <a:xfrm>
            <a:off x="822960" y="384048"/>
            <a:ext cx="292608" cy="292608"/>
          </a:xfrm>
          <a:prstGeom prst="rect">
            <a:avLst/>
          </a:prstGeom>
        </p:spPr>
      </p:pic>
      <p:sp>
        <p:nvSpPr>
          <p:cNvPr id="3" name="TextBox 2"/>
          <p:cNvSpPr txBox="1"/>
          <p:nvPr/>
        </p:nvSpPr>
        <p:spPr>
          <a:xfrm>
            <a:off x="1207008" y="411480"/>
            <a:ext cx="2743200" cy="274320"/>
          </a:xfrm>
          <a:prstGeom prst="rect">
            <a:avLst/>
          </a:prstGeom>
          <a:noFill/>
        </p:spPr>
        <p:txBody>
          <a:bodyPr wrap="square" anchor="t" lIns="0" rIns="0" tIns="0" bIns="0">
            <a:spAutoFit/>
          </a:bodyPr>
          <a:lstStyle/>
          <a:p>
            <a:pPr algn="l">
              <a:spcAft>
                <a:spcPts val="0"/>
              </a:spcAft>
            </a:pPr>
            <a:r>
              <a:rPr sz="1200" b="1">
                <a:solidFill>
                  <a:srgbClr val="10151E"/>
                </a:solidFill>
                <a:latin typeface="Space Grotesk"/>
              </a:rPr>
              <a:t>CHARON</a:t>
            </a:r>
          </a:p>
        </p:txBody>
      </p:sp>
      <p:sp>
        <p:nvSpPr>
          <p:cNvPr id="4" name="TextBox 3"/>
          <p:cNvSpPr txBox="1"/>
          <p:nvPr/>
        </p:nvSpPr>
        <p:spPr>
          <a:xfrm>
            <a:off x="10058400" y="411480"/>
            <a:ext cx="1307592" cy="274320"/>
          </a:xfrm>
          <a:prstGeom prst="rect">
            <a:avLst/>
          </a:prstGeom>
          <a:noFill/>
        </p:spPr>
        <p:txBody>
          <a:bodyPr wrap="square" anchor="t" lIns="0" rIns="0" tIns="0" bIns="0">
            <a:spAutoFit/>
          </a:bodyPr>
          <a:lstStyle/>
          <a:p>
            <a:pPr algn="r">
              <a:spcAft>
                <a:spcPts val="0"/>
              </a:spcAft>
            </a:pPr>
            <a:r>
              <a:rPr sz="1100" b="0">
                <a:solidFill>
                  <a:srgbClr val="7C89A0"/>
                </a:solidFill>
                <a:latin typeface="IBM Plex Mono"/>
              </a:rPr>
              <a:t>04 · 09</a:t>
            </a:r>
          </a:p>
        </p:txBody>
      </p:sp>
      <p:sp>
        <p:nvSpPr>
          <p:cNvPr id="5" name="TextBox 4"/>
          <p:cNvSpPr txBox="1"/>
          <p:nvPr/>
        </p:nvSpPr>
        <p:spPr>
          <a:xfrm>
            <a:off x="822960" y="987552"/>
            <a:ext cx="7315200" cy="292608"/>
          </a:xfrm>
          <a:prstGeom prst="rect">
            <a:avLst/>
          </a:prstGeom>
          <a:noFill/>
        </p:spPr>
        <p:txBody>
          <a:bodyPr wrap="square" anchor="t" lIns="0" rIns="0" tIns="0" bIns="0">
            <a:spAutoFit/>
          </a:bodyPr>
          <a:lstStyle/>
          <a:p>
            <a:pPr algn="l">
              <a:spcAft>
                <a:spcPts val="0"/>
              </a:spcAft>
            </a:pPr>
            <a:r>
              <a:rPr sz="1300" b="0">
                <a:solidFill>
                  <a:srgbClr val="35618F"/>
                </a:solidFill>
                <a:latin typeface="IBM Plex Mono"/>
              </a:rPr>
              <a:t>IT WORKS: MEASURED, LIVE</a:t>
            </a:r>
          </a:p>
        </p:txBody>
      </p:sp>
      <p:sp>
        <p:nvSpPr>
          <p:cNvPr id="6" name="TextBox 5"/>
          <p:cNvSpPr txBox="1"/>
          <p:nvPr/>
        </p:nvSpPr>
        <p:spPr>
          <a:xfrm>
            <a:off x="795528" y="1298448"/>
            <a:ext cx="10698480" cy="1828800"/>
          </a:xfrm>
          <a:prstGeom prst="rect">
            <a:avLst/>
          </a:prstGeom>
          <a:noFill/>
        </p:spPr>
        <p:txBody>
          <a:bodyPr wrap="square" anchor="t" lIns="0" rIns="0" tIns="0" bIns="0">
            <a:spAutoFit/>
          </a:bodyPr>
          <a:lstStyle/>
          <a:p>
            <a:pPr algn="l">
              <a:lnSpc>
                <a:spcPct val="102000"/>
              </a:lnSpc>
              <a:spcAft>
                <a:spcPts val="0"/>
              </a:spcAft>
            </a:pPr>
            <a:r>
              <a:rPr sz="4000" b="1">
                <a:solidFill>
                  <a:srgbClr val="10151E"/>
                </a:solidFill>
                <a:latin typeface="Montserrat"/>
              </a:rPr>
              <a:t>One protocol.</a:t>
            </a:r>
          </a:p>
          <a:p>
            <a:pPr algn="l">
              <a:lnSpc>
                <a:spcPct val="102000"/>
              </a:lnSpc>
              <a:spcAft>
                <a:spcPts val="0"/>
              </a:spcAft>
            </a:pPr>
            <a:r>
              <a:rPr sz="4000" b="1">
                <a:solidFill>
                  <a:srgbClr val="35618F"/>
                </a:solidFill>
                <a:latin typeface="Montserrat"/>
              </a:rPr>
              <a:t>Proven at scale.</a:t>
            </a:r>
          </a:p>
        </p:txBody>
      </p:sp>
      <p:sp>
        <p:nvSpPr>
          <p:cNvPr id="7" name="Rounded Rectangle 6"/>
          <p:cNvSpPr/>
          <p:nvPr/>
        </p:nvSpPr>
        <p:spPr>
          <a:xfrm>
            <a:off x="822960" y="2761488"/>
            <a:ext cx="3419856" cy="1371600"/>
          </a:xfrm>
          <a:prstGeom prst="roundRect">
            <a:avLst>
              <a:gd name="adj" fmla="val 5500"/>
            </a:avLst>
          </a:prstGeom>
          <a:solidFill>
            <a:srgbClr val="FFFFFF"/>
          </a:solidFill>
          <a:ln w="12700">
            <a:solidFill>
              <a:srgbClr val="DCE2EC"/>
            </a:solidFill>
          </a:ln>
          <a:effectLst/>
        </p:spPr>
        <p:style>
          <a:lnRef idx="1">
            <a:schemeClr val="accent1"/>
          </a:lnRef>
          <a:fillRef idx="3">
            <a:schemeClr val="accent1"/>
          </a:fillRef>
          <a:effectRef idx="2">
            <a:schemeClr val="accent1"/>
          </a:effectRef>
          <a:fontRef idx="minor">
            <a:schemeClr val="lt1"/>
          </a:fontRef>
        </p:style>
        <p:txBody>
          <a:bodyPr rtlCol="0" anchor="t" wrap="square" lIns="219456" rIns="219456" tIns="155448" bIns="155448"/>
          <a:lstStyle/>
          <a:p>
            <a:pPr algn="l">
              <a:spcAft>
                <a:spcPts val="400"/>
              </a:spcAft>
            </a:pPr>
            <a:r>
              <a:rPr sz="3200" b="1">
                <a:solidFill>
                  <a:srgbClr val="10151E"/>
                </a:solidFill>
                <a:latin typeface="Montserrat"/>
              </a:rPr>
              <a:t>≈80s</a:t>
            </a:r>
          </a:p>
          <a:p>
            <a:pPr algn="l">
              <a:spcAft>
                <a:spcPts val="0"/>
              </a:spcAft>
            </a:pPr>
            <a:r>
              <a:rPr sz="1050" b="0">
                <a:solidFill>
                  <a:srgbClr val="7C89A0"/>
                </a:solidFill>
                <a:latin typeface="IBM Plex Mono"/>
              </a:rPr>
              <a:t>100 PAYOUTS, END TO END</a:t>
            </a:r>
          </a:p>
        </p:txBody>
      </p:sp>
      <p:sp>
        <p:nvSpPr>
          <p:cNvPr id="8" name="Rounded Rectangle 7"/>
          <p:cNvSpPr/>
          <p:nvPr/>
        </p:nvSpPr>
        <p:spPr>
          <a:xfrm>
            <a:off x="4425696" y="2761488"/>
            <a:ext cx="3419856" cy="1371600"/>
          </a:xfrm>
          <a:prstGeom prst="roundRect">
            <a:avLst>
              <a:gd name="adj" fmla="val 5500"/>
            </a:avLst>
          </a:prstGeom>
          <a:solidFill>
            <a:srgbClr val="FFFFFF"/>
          </a:solidFill>
          <a:ln w="12700">
            <a:solidFill>
              <a:srgbClr val="DCE2EC"/>
            </a:solidFill>
          </a:ln>
          <a:effectLst/>
        </p:spPr>
        <p:style>
          <a:lnRef idx="1">
            <a:schemeClr val="accent1"/>
          </a:lnRef>
          <a:fillRef idx="3">
            <a:schemeClr val="accent1"/>
          </a:fillRef>
          <a:effectRef idx="2">
            <a:schemeClr val="accent1"/>
          </a:effectRef>
          <a:fontRef idx="minor">
            <a:schemeClr val="lt1"/>
          </a:fontRef>
        </p:style>
        <p:txBody>
          <a:bodyPr rtlCol="0" anchor="t" wrap="square" lIns="219456" rIns="219456" tIns="155448" bIns="155448"/>
          <a:lstStyle/>
          <a:p>
            <a:pPr algn="l">
              <a:spcAft>
                <a:spcPts val="400"/>
              </a:spcAft>
            </a:pPr>
            <a:r>
              <a:rPr sz="3200" b="1">
                <a:solidFill>
                  <a:srgbClr val="10151E"/>
                </a:solidFill>
                <a:latin typeface="Montserrat"/>
              </a:rPr>
              <a:t>0.6–1.4s</a:t>
            </a:r>
          </a:p>
          <a:p>
            <a:pPr algn="l">
              <a:spcAft>
                <a:spcPts val="0"/>
              </a:spcAft>
            </a:pPr>
            <a:r>
              <a:rPr sz="1050" b="0">
                <a:solidFill>
                  <a:srgbClr val="7C89A0"/>
                </a:solidFill>
                <a:latin typeface="IBM Plex Mono"/>
              </a:rPr>
              <a:t>PROOF, IN YOUR BROWSER</a:t>
            </a:r>
          </a:p>
        </p:txBody>
      </p:sp>
      <p:sp>
        <p:nvSpPr>
          <p:cNvPr id="9" name="Rounded Rectangle 8"/>
          <p:cNvSpPr/>
          <p:nvPr/>
        </p:nvSpPr>
        <p:spPr>
          <a:xfrm>
            <a:off x="8028431" y="2761488"/>
            <a:ext cx="3419856" cy="1371600"/>
          </a:xfrm>
          <a:prstGeom prst="roundRect">
            <a:avLst>
              <a:gd name="adj" fmla="val 5500"/>
            </a:avLst>
          </a:prstGeom>
          <a:solidFill>
            <a:srgbClr val="FFFFFF"/>
          </a:solidFill>
          <a:ln w="12700">
            <a:solidFill>
              <a:srgbClr val="DCE2EC"/>
            </a:solidFill>
          </a:ln>
          <a:effectLst/>
        </p:spPr>
        <p:style>
          <a:lnRef idx="1">
            <a:schemeClr val="accent1"/>
          </a:lnRef>
          <a:fillRef idx="3">
            <a:schemeClr val="accent1"/>
          </a:fillRef>
          <a:effectRef idx="2">
            <a:schemeClr val="accent1"/>
          </a:effectRef>
          <a:fontRef idx="minor">
            <a:schemeClr val="lt1"/>
          </a:fontRef>
        </p:style>
        <p:txBody>
          <a:bodyPr rtlCol="0" anchor="t" wrap="square" lIns="219456" rIns="219456" tIns="155448" bIns="155448"/>
          <a:lstStyle/>
          <a:p>
            <a:pPr algn="l">
              <a:spcAft>
                <a:spcPts val="400"/>
              </a:spcAft>
            </a:pPr>
            <a:r>
              <a:rPr sz="3200" b="1">
                <a:solidFill>
                  <a:srgbClr val="10151E"/>
                </a:solidFill>
                <a:latin typeface="Montserrat"/>
              </a:rPr>
              <a:t>1</a:t>
            </a:r>
          </a:p>
          <a:p>
            <a:pPr algn="l">
              <a:spcAft>
                <a:spcPts val="0"/>
              </a:spcAft>
            </a:pPr>
            <a:r>
              <a:rPr sz="1050" b="0">
                <a:solidFill>
                  <a:srgbClr val="7C89A0"/>
                </a:solidFill>
                <a:latin typeface="IBM Plex Mono"/>
              </a:rPr>
              <a:t>SIGNATURE PER PAYROLL RUN</a:t>
            </a:r>
          </a:p>
        </p:txBody>
      </p:sp>
      <p:sp>
        <p:nvSpPr>
          <p:cNvPr id="10" name="Rounded Rectangle 9"/>
          <p:cNvSpPr/>
          <p:nvPr/>
        </p:nvSpPr>
        <p:spPr>
          <a:xfrm>
            <a:off x="822960" y="4343400"/>
            <a:ext cx="5614416" cy="2011680"/>
          </a:xfrm>
          <a:prstGeom prst="roundRect">
            <a:avLst>
              <a:gd name="adj" fmla="val 5500"/>
            </a:avLst>
          </a:prstGeom>
          <a:solidFill>
            <a:srgbClr val="FFFFFF"/>
          </a:solidFill>
          <a:ln w="12700">
            <a:solidFill>
              <a:srgbClr val="DCE2EC"/>
            </a:solidFill>
          </a:ln>
          <a:effectLst/>
        </p:spPr>
        <p:style>
          <a:lnRef idx="1">
            <a:schemeClr val="accent1"/>
          </a:lnRef>
          <a:fillRef idx="3">
            <a:schemeClr val="accent1"/>
          </a:fillRef>
          <a:effectRef idx="2">
            <a:schemeClr val="accent1"/>
          </a:effectRef>
          <a:fontRef idx="minor">
            <a:schemeClr val="lt1"/>
          </a:fontRef>
        </p:style>
        <p:txBody>
          <a:bodyPr rtlCol="0" anchor="t" wrap="square" lIns="219456" rIns="219456" tIns="155448" bIns="155448"/>
          <a:lstStyle/>
          <a:p>
            <a:pPr algn="ctr"/>
          </a:p>
        </p:txBody>
      </p:sp>
      <p:pic>
        <p:nvPicPr>
          <p:cNvPr id="11" name="Picture 10" descr="pitch-img-run.png"/>
          <p:cNvPicPr>
            <a:picLocks noChangeAspect="1"/>
          </p:cNvPicPr>
          <p:nvPr/>
        </p:nvPicPr>
        <p:blipFill>
          <a:blip r:embed="rId4"/>
          <a:stretch>
            <a:fillRect/>
          </a:stretch>
        </p:blipFill>
        <p:spPr>
          <a:xfrm>
            <a:off x="987552" y="4507992"/>
            <a:ext cx="5285232" cy="1430121"/>
          </a:xfrm>
          <a:prstGeom prst="rect">
            <a:avLst/>
          </a:prstGeom>
        </p:spPr>
      </p:pic>
      <p:sp>
        <p:nvSpPr>
          <p:cNvPr id="12" name="TextBox 11"/>
          <p:cNvSpPr txBox="1"/>
          <p:nvPr/>
        </p:nvSpPr>
        <p:spPr>
          <a:xfrm>
            <a:off x="1005840" y="5989320"/>
            <a:ext cx="5303520" cy="274320"/>
          </a:xfrm>
          <a:prstGeom prst="rect">
            <a:avLst/>
          </a:prstGeom>
          <a:noFill/>
        </p:spPr>
        <p:txBody>
          <a:bodyPr wrap="square" anchor="t" lIns="0" rIns="0" tIns="0" bIns="0">
            <a:spAutoFit/>
          </a:bodyPr>
          <a:lstStyle/>
          <a:p>
            <a:pPr algn="l">
              <a:spcAft>
                <a:spcPts val="0"/>
              </a:spcAft>
            </a:pPr>
            <a:r>
              <a:rPr sz="1050" b="0">
                <a:solidFill>
                  <a:srgbClr val="46536B"/>
                </a:solidFill>
                <a:latin typeface="IBM Plex Mono"/>
              </a:rPr>
              <a:t>LIVE RUN: 100/100 SENT · 100 ON CHAIN · 0 FAILED</a:t>
            </a:r>
          </a:p>
        </p:txBody>
      </p:sp>
      <p:sp>
        <p:nvSpPr>
          <p:cNvPr id="13" name="Rounded Rectangle 12"/>
          <p:cNvSpPr/>
          <p:nvPr/>
        </p:nvSpPr>
        <p:spPr>
          <a:xfrm>
            <a:off x="6720840" y="4343400"/>
            <a:ext cx="4645152" cy="420624"/>
          </a:xfrm>
          <a:prstGeom prst="roundRect">
            <a:avLst>
              <a:gd name="adj" fmla="val 50000"/>
            </a:avLst>
          </a:prstGeom>
          <a:solidFill>
            <a:srgbClr val="FFFFFF"/>
          </a:solidFill>
          <a:ln w="12700">
            <a:solidFill>
              <a:srgbClr val="DCE2EC"/>
            </a:solidFill>
          </a:ln>
          <a:effectLst/>
        </p:spPr>
        <p:style>
          <a:lnRef idx="1">
            <a:schemeClr val="accent1"/>
          </a:lnRef>
          <a:fillRef idx="3">
            <a:schemeClr val="accent1"/>
          </a:fillRef>
          <a:effectRef idx="2">
            <a:schemeClr val="accent1"/>
          </a:effectRef>
          <a:fontRef idx="minor">
            <a:schemeClr val="lt1"/>
          </a:fontRef>
        </p:style>
        <p:txBody>
          <a:bodyPr rtlCol="0" anchor="t" wrap="square" lIns="219456" rIns="219456" tIns="54864" bIns="18288"/>
          <a:lstStyle/>
          <a:p>
            <a:pPr algn="l">
              <a:spcAft>
                <a:spcPts val="0"/>
              </a:spcAft>
            </a:pPr>
            <a:r>
              <a:rPr sz="1100" b="1">
                <a:solidFill>
                  <a:srgbClr val="27825A"/>
                </a:solidFill>
                <a:latin typeface="IBM Plex Mono"/>
              </a:rPr>
              <a:t>● </a:t>
            </a:r>
            <a:r>
              <a:rPr sz="1100" b="0">
                <a:solidFill>
                  <a:srgbClr val="10151E"/>
                </a:solidFill>
                <a:latin typeface="IBM Plex Mono"/>
              </a:rPr>
              <a:t>9 beta testers</a:t>
            </a:r>
          </a:p>
        </p:txBody>
      </p:sp>
      <p:sp>
        <p:nvSpPr>
          <p:cNvPr id="14" name="Rounded Rectangle 13"/>
          <p:cNvSpPr/>
          <p:nvPr/>
        </p:nvSpPr>
        <p:spPr>
          <a:xfrm>
            <a:off x="6720840" y="4873752"/>
            <a:ext cx="4645152" cy="420624"/>
          </a:xfrm>
          <a:prstGeom prst="roundRect">
            <a:avLst>
              <a:gd name="adj" fmla="val 50000"/>
            </a:avLst>
          </a:prstGeom>
          <a:solidFill>
            <a:srgbClr val="FFFFFF"/>
          </a:solidFill>
          <a:ln w="12700">
            <a:solidFill>
              <a:srgbClr val="DCE2EC"/>
            </a:solidFill>
          </a:ln>
          <a:effectLst/>
        </p:spPr>
        <p:style>
          <a:lnRef idx="1">
            <a:schemeClr val="accent1"/>
          </a:lnRef>
          <a:fillRef idx="3">
            <a:schemeClr val="accent1"/>
          </a:fillRef>
          <a:effectRef idx="2">
            <a:schemeClr val="accent1"/>
          </a:effectRef>
          <a:fontRef idx="minor">
            <a:schemeClr val="lt1"/>
          </a:fontRef>
        </p:style>
        <p:txBody>
          <a:bodyPr rtlCol="0" anchor="t" wrap="square" lIns="219456" rIns="219456" tIns="54864" bIns="18288"/>
          <a:lstStyle/>
          <a:p>
            <a:pPr algn="l">
              <a:spcAft>
                <a:spcPts val="0"/>
              </a:spcAft>
            </a:pPr>
            <a:r>
              <a:rPr sz="1100" b="1">
                <a:solidFill>
                  <a:srgbClr val="27825A"/>
                </a:solidFill>
                <a:latin typeface="IBM Plex Mono"/>
              </a:rPr>
              <a:t>● </a:t>
            </a:r>
            <a:r>
              <a:rPr sz="1100" b="0">
                <a:solidFill>
                  <a:srgbClr val="10151E"/>
                </a:solidFill>
                <a:latin typeface="IBM Plex Mono"/>
              </a:rPr>
              <a:t>live on devnet</a:t>
            </a:r>
          </a:p>
        </p:txBody>
      </p:sp>
      <p:sp>
        <p:nvSpPr>
          <p:cNvPr id="15" name="Rounded Rectangle 14"/>
          <p:cNvSpPr/>
          <p:nvPr/>
        </p:nvSpPr>
        <p:spPr>
          <a:xfrm>
            <a:off x="6720840" y="5404104"/>
            <a:ext cx="4645152" cy="420624"/>
          </a:xfrm>
          <a:prstGeom prst="roundRect">
            <a:avLst>
              <a:gd name="adj" fmla="val 50000"/>
            </a:avLst>
          </a:prstGeom>
          <a:solidFill>
            <a:srgbClr val="FFFFFF"/>
          </a:solidFill>
          <a:ln w="12700">
            <a:solidFill>
              <a:srgbClr val="DCE2EC"/>
            </a:solidFill>
          </a:ln>
          <a:effectLst/>
        </p:spPr>
        <p:style>
          <a:lnRef idx="1">
            <a:schemeClr val="accent1"/>
          </a:lnRef>
          <a:fillRef idx="3">
            <a:schemeClr val="accent1"/>
          </a:fillRef>
          <a:effectRef idx="2">
            <a:schemeClr val="accent1"/>
          </a:effectRef>
          <a:fontRef idx="minor">
            <a:schemeClr val="lt1"/>
          </a:fontRef>
        </p:style>
        <p:txBody>
          <a:bodyPr rtlCol="0" anchor="t" wrap="square" lIns="219456" rIns="219456" tIns="54864" bIns="18288"/>
          <a:lstStyle/>
          <a:p>
            <a:pPr algn="l">
              <a:spcAft>
                <a:spcPts val="0"/>
              </a:spcAft>
            </a:pPr>
            <a:r>
              <a:rPr sz="1100" b="1">
                <a:solidFill>
                  <a:srgbClr val="27825A"/>
                </a:solidFill>
                <a:latin typeface="IBM Plex Mono"/>
              </a:rPr>
              <a:t>● </a:t>
            </a:r>
            <a:r>
              <a:rPr sz="1100" b="0">
                <a:solidFill>
                  <a:srgbClr val="10151E"/>
                </a:solidFill>
                <a:latin typeface="IBM Plex Mono"/>
              </a:rPr>
              <a:t>built in-house: circuit · program · prover · SDK</a:t>
            </a:r>
          </a:p>
        </p:txBody>
      </p:sp>
      <p:sp>
        <p:nvSpPr>
          <p:cNvPr id="16" name="Rounded Rectangle 15"/>
          <p:cNvSpPr/>
          <p:nvPr/>
        </p:nvSpPr>
        <p:spPr>
          <a:xfrm>
            <a:off x="6720840" y="5934456"/>
            <a:ext cx="4645152" cy="420624"/>
          </a:xfrm>
          <a:prstGeom prst="roundRect">
            <a:avLst>
              <a:gd name="adj" fmla="val 50000"/>
            </a:avLst>
          </a:prstGeom>
          <a:solidFill>
            <a:srgbClr val="FFFFFF"/>
          </a:solidFill>
          <a:ln w="12700">
            <a:solidFill>
              <a:srgbClr val="DCE2EC"/>
            </a:solidFill>
          </a:ln>
          <a:effectLst/>
        </p:spPr>
        <p:style>
          <a:lnRef idx="1">
            <a:schemeClr val="accent1"/>
          </a:lnRef>
          <a:fillRef idx="3">
            <a:schemeClr val="accent1"/>
          </a:fillRef>
          <a:effectRef idx="2">
            <a:schemeClr val="accent1"/>
          </a:effectRef>
          <a:fontRef idx="minor">
            <a:schemeClr val="lt1"/>
          </a:fontRef>
        </p:style>
        <p:txBody>
          <a:bodyPr rtlCol="0" anchor="t" wrap="square" lIns="219456" rIns="219456" tIns="54864" bIns="18288"/>
          <a:lstStyle/>
          <a:p>
            <a:pPr algn="l">
              <a:spcAft>
                <a:spcPts val="0"/>
              </a:spcAft>
            </a:pPr>
            <a:r>
              <a:rPr sz="1100" b="1">
                <a:solidFill>
                  <a:srgbClr val="27825A"/>
                </a:solidFill>
                <a:latin typeface="IBM Plex Mono"/>
              </a:rPr>
              <a:t>● </a:t>
            </a:r>
            <a:r>
              <a:rPr sz="1100" b="0">
                <a:solidFill>
                  <a:srgbClr val="10151E"/>
                </a:solidFill>
                <a:latin typeface="IBM Plex Mono"/>
              </a:rPr>
              <a:t>one protocol: send · swap · pay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pic>
        <p:nvPicPr>
          <p:cNvPr id="2" name="Picture 1" descr="pitch-img-logo.png"/>
          <p:cNvPicPr>
            <a:picLocks noChangeAspect="1"/>
          </p:cNvPicPr>
          <p:nvPr/>
        </p:nvPicPr>
        <p:blipFill>
          <a:blip r:embed="rId3"/>
          <a:stretch>
            <a:fillRect/>
          </a:stretch>
        </p:blipFill>
        <p:spPr>
          <a:xfrm>
            <a:off x="822960" y="384048"/>
            <a:ext cx="292608" cy="292608"/>
          </a:xfrm>
          <a:prstGeom prst="rect">
            <a:avLst/>
          </a:prstGeom>
        </p:spPr>
      </p:pic>
      <p:sp>
        <p:nvSpPr>
          <p:cNvPr id="3" name="TextBox 2"/>
          <p:cNvSpPr txBox="1"/>
          <p:nvPr/>
        </p:nvSpPr>
        <p:spPr>
          <a:xfrm>
            <a:off x="1207008" y="411480"/>
            <a:ext cx="2743200" cy="274320"/>
          </a:xfrm>
          <a:prstGeom prst="rect">
            <a:avLst/>
          </a:prstGeom>
          <a:noFill/>
        </p:spPr>
        <p:txBody>
          <a:bodyPr wrap="square" anchor="t" lIns="0" rIns="0" tIns="0" bIns="0">
            <a:spAutoFit/>
          </a:bodyPr>
          <a:lstStyle/>
          <a:p>
            <a:pPr algn="l">
              <a:spcAft>
                <a:spcPts val="0"/>
              </a:spcAft>
            </a:pPr>
            <a:r>
              <a:rPr sz="1200" b="1">
                <a:solidFill>
                  <a:srgbClr val="10151E"/>
                </a:solidFill>
                <a:latin typeface="Space Grotesk"/>
              </a:rPr>
              <a:t>CHARON</a:t>
            </a:r>
          </a:p>
        </p:txBody>
      </p:sp>
      <p:sp>
        <p:nvSpPr>
          <p:cNvPr id="4" name="TextBox 3"/>
          <p:cNvSpPr txBox="1"/>
          <p:nvPr/>
        </p:nvSpPr>
        <p:spPr>
          <a:xfrm>
            <a:off x="10058400" y="411480"/>
            <a:ext cx="1307592" cy="274320"/>
          </a:xfrm>
          <a:prstGeom prst="rect">
            <a:avLst/>
          </a:prstGeom>
          <a:noFill/>
        </p:spPr>
        <p:txBody>
          <a:bodyPr wrap="square" anchor="t" lIns="0" rIns="0" tIns="0" bIns="0">
            <a:spAutoFit/>
          </a:bodyPr>
          <a:lstStyle/>
          <a:p>
            <a:pPr algn="r">
              <a:spcAft>
                <a:spcPts val="0"/>
              </a:spcAft>
            </a:pPr>
            <a:r>
              <a:rPr sz="1100" b="0">
                <a:solidFill>
                  <a:srgbClr val="7C89A0"/>
                </a:solidFill>
                <a:latin typeface="IBM Plex Mono"/>
              </a:rPr>
              <a:t>05 · 09</a:t>
            </a:r>
          </a:p>
        </p:txBody>
      </p:sp>
      <p:sp>
        <p:nvSpPr>
          <p:cNvPr id="5" name="TextBox 4"/>
          <p:cNvSpPr txBox="1"/>
          <p:nvPr/>
        </p:nvSpPr>
        <p:spPr>
          <a:xfrm>
            <a:off x="822960" y="987552"/>
            <a:ext cx="7315200" cy="292608"/>
          </a:xfrm>
          <a:prstGeom prst="rect">
            <a:avLst/>
          </a:prstGeom>
          <a:noFill/>
        </p:spPr>
        <p:txBody>
          <a:bodyPr wrap="square" anchor="t" lIns="0" rIns="0" tIns="0" bIns="0">
            <a:spAutoFit/>
          </a:bodyPr>
          <a:lstStyle/>
          <a:p>
            <a:pPr algn="l">
              <a:spcAft>
                <a:spcPts val="0"/>
              </a:spcAft>
            </a:pPr>
            <a:r>
              <a:rPr sz="1300" b="0">
                <a:solidFill>
                  <a:srgbClr val="35618F"/>
                </a:solidFill>
                <a:latin typeface="IBM Plex Mono"/>
              </a:rPr>
              <a:t>WHY NOW</a:t>
            </a:r>
          </a:p>
        </p:txBody>
      </p:sp>
      <p:sp>
        <p:nvSpPr>
          <p:cNvPr id="6" name="TextBox 5"/>
          <p:cNvSpPr txBox="1"/>
          <p:nvPr/>
        </p:nvSpPr>
        <p:spPr>
          <a:xfrm>
            <a:off x="795528" y="1298448"/>
            <a:ext cx="10698480" cy="1828800"/>
          </a:xfrm>
          <a:prstGeom prst="rect">
            <a:avLst/>
          </a:prstGeom>
          <a:noFill/>
        </p:spPr>
        <p:txBody>
          <a:bodyPr wrap="square" anchor="t" lIns="0" rIns="0" tIns="0" bIns="0">
            <a:spAutoFit/>
          </a:bodyPr>
          <a:lstStyle/>
          <a:p>
            <a:pPr algn="l">
              <a:lnSpc>
                <a:spcPct val="102000"/>
              </a:lnSpc>
              <a:spcAft>
                <a:spcPts val="0"/>
              </a:spcAft>
            </a:pPr>
            <a:r>
              <a:rPr sz="4000" b="1">
                <a:solidFill>
                  <a:srgbClr val="10151E"/>
                </a:solidFill>
                <a:latin typeface="Montserrat"/>
              </a:rPr>
              <a:t>Money is moving on-chain.</a:t>
            </a:r>
          </a:p>
          <a:p>
            <a:pPr algn="l">
              <a:lnSpc>
                <a:spcPct val="102000"/>
              </a:lnSpc>
              <a:spcAft>
                <a:spcPts val="0"/>
              </a:spcAft>
            </a:pPr>
            <a:r>
              <a:rPr sz="4000" b="1">
                <a:solidFill>
                  <a:srgbClr val="35618F"/>
                </a:solidFill>
                <a:latin typeface="Montserrat"/>
              </a:rPr>
              <a:t>In public.</a:t>
            </a:r>
          </a:p>
        </p:txBody>
      </p:sp>
      <p:sp>
        <p:nvSpPr>
          <p:cNvPr id="7" name="Rounded Rectangle 6"/>
          <p:cNvSpPr/>
          <p:nvPr/>
        </p:nvSpPr>
        <p:spPr>
          <a:xfrm>
            <a:off x="822960" y="2743200"/>
            <a:ext cx="5230368" cy="3310128"/>
          </a:xfrm>
          <a:prstGeom prst="roundRect">
            <a:avLst>
              <a:gd name="adj" fmla="val 5500"/>
            </a:avLst>
          </a:prstGeom>
          <a:solidFill>
            <a:srgbClr val="FFFFFF"/>
          </a:solidFill>
          <a:ln w="12700">
            <a:solidFill>
              <a:srgbClr val="DCE2EC"/>
            </a:solidFill>
          </a:ln>
          <a:effectLst/>
        </p:spPr>
        <p:style>
          <a:lnRef idx="1">
            <a:schemeClr val="accent1"/>
          </a:lnRef>
          <a:fillRef idx="3">
            <a:schemeClr val="accent1"/>
          </a:fillRef>
          <a:effectRef idx="2">
            <a:schemeClr val="accent1"/>
          </a:effectRef>
          <a:fontRef idx="minor">
            <a:schemeClr val="lt1"/>
          </a:fontRef>
        </p:style>
        <p:txBody>
          <a:bodyPr rtlCol="0" anchor="t" wrap="square" lIns="219456" rIns="219456" tIns="155448" bIns="155448"/>
          <a:lstStyle/>
          <a:p>
            <a:pPr algn="l">
              <a:spcAft>
                <a:spcPts val="800"/>
              </a:spcAft>
            </a:pPr>
            <a:r>
              <a:rPr sz="1100" b="0">
                <a:solidFill>
                  <a:srgbClr val="7C89A0"/>
                </a:solidFill>
                <a:latin typeface="IBM Plex Mono"/>
              </a:rPr>
              <a:t>THE WAVE</a:t>
            </a:r>
          </a:p>
          <a:p>
            <a:pPr algn="l">
              <a:lnSpc>
                <a:spcPct val="105000"/>
              </a:lnSpc>
              <a:spcAft>
                <a:spcPts val="1000"/>
              </a:spcAft>
            </a:pPr>
            <a:r>
              <a:rPr sz="1900" b="1">
                <a:solidFill>
                  <a:srgbClr val="10151E"/>
                </a:solidFill>
                <a:latin typeface="Space Grotesk"/>
              </a:rPr>
              <a:t>$320B</a:t>
            </a:r>
            <a:r>
              <a:rPr sz="1900" b="1">
                <a:solidFill>
                  <a:srgbClr val="10151E"/>
                </a:solidFill>
                <a:latin typeface="Space Grotesk"/>
              </a:rPr>
              <a:t> stablecoins. </a:t>
            </a:r>
            <a:r>
              <a:rPr sz="1900" b="1">
                <a:solidFill>
                  <a:srgbClr val="35618F"/>
                </a:solidFill>
                <a:latin typeface="Space Grotesk"/>
              </a:rPr>
              <a:t>$4.5T</a:t>
            </a:r>
            <a:r>
              <a:rPr sz="1900" b="1">
                <a:solidFill>
                  <a:srgbClr val="10151E"/>
                </a:solidFill>
                <a:latin typeface="Space Grotesk"/>
              </a:rPr>
              <a:t> moved every quarter.</a:t>
            </a:r>
          </a:p>
          <a:p>
            <a:pPr algn="l">
              <a:spcAft>
                <a:spcPts val="600"/>
              </a:spcAft>
            </a:pPr>
            <a:r>
              <a:rPr sz="1250" b="0">
                <a:solidFill>
                  <a:srgbClr val="7C89A0"/>
                </a:solidFill>
                <a:latin typeface="Space Grotesk"/>
              </a:rPr>
              <a:t>·  </a:t>
            </a:r>
            <a:r>
              <a:rPr sz="1250" b="1">
                <a:solidFill>
                  <a:srgbClr val="10151E"/>
                </a:solidFill>
                <a:latin typeface="Space Grotesk"/>
              </a:rPr>
              <a:t>Sept 2026: </a:t>
            </a:r>
            <a:r>
              <a:rPr sz="1250" b="0">
                <a:solidFill>
                  <a:srgbClr val="46536B"/>
                </a:solidFill>
                <a:latin typeface="Space Grotesk"/>
              </a:rPr>
              <a:t>private money ships on Solana mainnet: payroll first, category validated</a:t>
            </a:r>
          </a:p>
          <a:p>
            <a:pPr algn="l">
              <a:spcAft>
                <a:spcPts val="600"/>
              </a:spcAft>
            </a:pPr>
            <a:r>
              <a:rPr sz="1250" b="0">
                <a:solidFill>
                  <a:srgbClr val="7C89A0"/>
                </a:solidFill>
                <a:latin typeface="Space Grotesk"/>
              </a:rPr>
              <a:t>·  </a:t>
            </a:r>
            <a:r>
              <a:rPr sz="1250" b="1">
                <a:solidFill>
                  <a:srgbClr val="10151E"/>
                </a:solidFill>
                <a:latin typeface="Space Grotesk"/>
              </a:rPr>
              <a:t>People want money on-chain. </a:t>
            </a:r>
            <a:r>
              <a:rPr sz="1250" b="0">
                <a:solidFill>
                  <a:srgbClr val="46536B"/>
                </a:solidFill>
                <a:latin typeface="Space Grotesk"/>
              </a:rPr>
              <a:t>They can't accept it in public</a:t>
            </a:r>
          </a:p>
        </p:txBody>
      </p:sp>
      <p:sp>
        <p:nvSpPr>
          <p:cNvPr id="8" name="Rounded Rectangle 7"/>
          <p:cNvSpPr/>
          <p:nvPr/>
        </p:nvSpPr>
        <p:spPr>
          <a:xfrm>
            <a:off x="6181344" y="2743200"/>
            <a:ext cx="5230368" cy="3310128"/>
          </a:xfrm>
          <a:prstGeom prst="roundRect">
            <a:avLst>
              <a:gd name="adj" fmla="val 5500"/>
            </a:avLst>
          </a:prstGeom>
          <a:solidFill>
            <a:srgbClr val="FFFFFF"/>
          </a:solidFill>
          <a:ln w="12700">
            <a:solidFill>
              <a:srgbClr val="DCE2EC"/>
            </a:solidFill>
          </a:ln>
          <a:effectLst/>
        </p:spPr>
        <p:style>
          <a:lnRef idx="1">
            <a:schemeClr val="accent1"/>
          </a:lnRef>
          <a:fillRef idx="3">
            <a:schemeClr val="accent1"/>
          </a:fillRef>
          <a:effectRef idx="2">
            <a:schemeClr val="accent1"/>
          </a:effectRef>
          <a:fontRef idx="minor">
            <a:schemeClr val="lt1"/>
          </a:fontRef>
        </p:style>
        <p:txBody>
          <a:bodyPr rtlCol="0" anchor="t" wrap="square" lIns="219456" rIns="219456" tIns="155448" bIns="155448"/>
          <a:lstStyle/>
          <a:p>
            <a:pPr algn="l">
              <a:spcAft>
                <a:spcPts val="800"/>
              </a:spcAft>
            </a:pPr>
            <a:r>
              <a:rPr sz="1100" b="0">
                <a:solidFill>
                  <a:srgbClr val="7C89A0"/>
                </a:solidFill>
                <a:latin typeface="IBM Plex Mono"/>
              </a:rPr>
              <a:t>THE FIELD</a:t>
            </a:r>
          </a:p>
          <a:p>
            <a:pPr algn="l">
              <a:lnSpc>
                <a:spcPct val="105000"/>
              </a:lnSpc>
              <a:spcAft>
                <a:spcPts val="1000"/>
              </a:spcAft>
            </a:pPr>
            <a:r>
              <a:rPr sz="1900" b="1">
                <a:solidFill>
                  <a:srgbClr val="10151E"/>
                </a:solidFill>
                <a:latin typeface="Space Grotesk"/>
              </a:rPr>
              <a:t>Private money already has </a:t>
            </a:r>
            <a:r>
              <a:rPr sz="1900" b="1">
                <a:solidFill>
                  <a:srgbClr val="35618F"/>
                </a:solidFill>
                <a:latin typeface="Space Grotesk"/>
              </a:rPr>
              <a:t>real flow.</a:t>
            </a:r>
          </a:p>
          <a:p>
            <a:pPr algn="l">
              <a:spcAft>
                <a:spcPts val="600"/>
              </a:spcAft>
            </a:pPr>
            <a:r>
              <a:rPr sz="1250" b="0">
                <a:solidFill>
                  <a:srgbClr val="7C89A0"/>
                </a:solidFill>
                <a:latin typeface="Space Grotesk"/>
              </a:rPr>
              <a:t>·  </a:t>
            </a:r>
            <a:r>
              <a:rPr sz="1250" b="1">
                <a:solidFill>
                  <a:srgbClr val="10151E"/>
                </a:solidFill>
                <a:latin typeface="Space Grotesk"/>
              </a:rPr>
              <a:t>Privacy Cash: </a:t>
            </a:r>
            <a:r>
              <a:rPr sz="1250" b="0">
                <a:solidFill>
                  <a:srgbClr val="46536B"/>
                </a:solidFill>
                <a:latin typeface="Space Grotesk"/>
              </a:rPr>
              <a:t>$500M+ routed, $139k in fees (DefiLlama)</a:t>
            </a:r>
          </a:p>
          <a:p>
            <a:pPr algn="l">
              <a:spcAft>
                <a:spcPts val="600"/>
              </a:spcAft>
            </a:pPr>
            <a:r>
              <a:rPr sz="1250" b="0">
                <a:solidFill>
                  <a:srgbClr val="7C89A0"/>
                </a:solidFill>
                <a:latin typeface="Space Grotesk"/>
              </a:rPr>
              <a:t>·  </a:t>
            </a:r>
            <a:r>
              <a:rPr sz="1250" b="1">
                <a:solidFill>
                  <a:srgbClr val="10151E"/>
                </a:solidFill>
                <a:latin typeface="Space Grotesk"/>
              </a:rPr>
              <a:t>Cloak: </a:t>
            </a:r>
            <a:r>
              <a:rPr sz="1250" b="0">
                <a:solidFill>
                  <a:srgbClr val="46536B"/>
                </a:solidFill>
                <a:latin typeface="Space Grotesk"/>
              </a:rPr>
              <a:t>private payroll live on Solana mainnet since Sept 2026</a:t>
            </a:r>
          </a:p>
          <a:p>
            <a:pPr algn="l">
              <a:spcAft>
                <a:spcPts val="600"/>
              </a:spcAft>
            </a:pPr>
            <a:r>
              <a:rPr sz="1250" b="0">
                <a:solidFill>
                  <a:srgbClr val="7C89A0"/>
                </a:solidFill>
                <a:latin typeface="Space Grotesk"/>
              </a:rPr>
              <a:t>·  </a:t>
            </a:r>
            <a:r>
              <a:rPr sz="1250" b="1">
                <a:solidFill>
                  <a:srgbClr val="10151E"/>
                </a:solidFill>
                <a:latin typeface="Space Grotesk"/>
              </a:rPr>
              <a:t>Umbra: </a:t>
            </a:r>
            <a:r>
              <a:rPr sz="1250" b="0">
                <a:solidFill>
                  <a:srgbClr val="46536B"/>
                </a:solidFill>
                <a:latin typeface="Space Grotesk"/>
              </a:rPr>
              <a:t>shielded pools + private vesting on Solana</a:t>
            </a:r>
          </a:p>
          <a:p>
            <a:pPr algn="l">
              <a:spcAft>
                <a:spcPts val="600"/>
              </a:spcAft>
            </a:pPr>
            <a:r>
              <a:rPr sz="1250" b="0">
                <a:solidFill>
                  <a:srgbClr val="7C89A0"/>
                </a:solidFill>
                <a:latin typeface="Space Grotesk"/>
              </a:rPr>
              <a:t>·  </a:t>
            </a:r>
            <a:r>
              <a:rPr sz="1250" b="1">
                <a:solidFill>
                  <a:srgbClr val="10151E"/>
                </a:solidFill>
                <a:latin typeface="Space Grotesk"/>
              </a:rPr>
              <a:t>$957M+ locked across 47 privacy protocols </a:t>
            </a:r>
            <a:r>
              <a:rPr sz="1250" b="0">
                <a:solidFill>
                  <a:srgbClr val="46536B"/>
                </a:solidFill>
                <a:latin typeface="Space Grotesk"/>
              </a:rPr>
              <a:t>(DefiLlama)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pic>
        <p:nvPicPr>
          <p:cNvPr id="2" name="Picture 1" descr="pitch-img-logo.png"/>
          <p:cNvPicPr>
            <a:picLocks noChangeAspect="1"/>
          </p:cNvPicPr>
          <p:nvPr/>
        </p:nvPicPr>
        <p:blipFill>
          <a:blip r:embed="rId3"/>
          <a:stretch>
            <a:fillRect/>
          </a:stretch>
        </p:blipFill>
        <p:spPr>
          <a:xfrm>
            <a:off x="822960" y="384048"/>
            <a:ext cx="292608" cy="292608"/>
          </a:xfrm>
          <a:prstGeom prst="rect">
            <a:avLst/>
          </a:prstGeom>
        </p:spPr>
      </p:pic>
      <p:sp>
        <p:nvSpPr>
          <p:cNvPr id="3" name="TextBox 2"/>
          <p:cNvSpPr txBox="1"/>
          <p:nvPr/>
        </p:nvSpPr>
        <p:spPr>
          <a:xfrm>
            <a:off x="1207008" y="411480"/>
            <a:ext cx="2743200" cy="274320"/>
          </a:xfrm>
          <a:prstGeom prst="rect">
            <a:avLst/>
          </a:prstGeom>
          <a:noFill/>
        </p:spPr>
        <p:txBody>
          <a:bodyPr wrap="square" anchor="t" lIns="0" rIns="0" tIns="0" bIns="0">
            <a:spAutoFit/>
          </a:bodyPr>
          <a:lstStyle/>
          <a:p>
            <a:pPr algn="l">
              <a:spcAft>
                <a:spcPts val="0"/>
              </a:spcAft>
            </a:pPr>
            <a:r>
              <a:rPr sz="1200" b="1">
                <a:solidFill>
                  <a:srgbClr val="10151E"/>
                </a:solidFill>
                <a:latin typeface="Space Grotesk"/>
              </a:rPr>
              <a:t>CHARON</a:t>
            </a:r>
          </a:p>
        </p:txBody>
      </p:sp>
      <p:sp>
        <p:nvSpPr>
          <p:cNvPr id="4" name="TextBox 3"/>
          <p:cNvSpPr txBox="1"/>
          <p:nvPr/>
        </p:nvSpPr>
        <p:spPr>
          <a:xfrm>
            <a:off x="10058400" y="411480"/>
            <a:ext cx="1307592" cy="274320"/>
          </a:xfrm>
          <a:prstGeom prst="rect">
            <a:avLst/>
          </a:prstGeom>
          <a:noFill/>
        </p:spPr>
        <p:txBody>
          <a:bodyPr wrap="square" anchor="t" lIns="0" rIns="0" tIns="0" bIns="0">
            <a:spAutoFit/>
          </a:bodyPr>
          <a:lstStyle/>
          <a:p>
            <a:pPr algn="r">
              <a:spcAft>
                <a:spcPts val="0"/>
              </a:spcAft>
            </a:pPr>
            <a:r>
              <a:rPr sz="1100" b="0">
                <a:solidFill>
                  <a:srgbClr val="7C89A0"/>
                </a:solidFill>
                <a:latin typeface="IBM Plex Mono"/>
              </a:rPr>
              <a:t>06 · 09</a:t>
            </a:r>
          </a:p>
        </p:txBody>
      </p:sp>
      <p:sp>
        <p:nvSpPr>
          <p:cNvPr id="5" name="TextBox 4"/>
          <p:cNvSpPr txBox="1"/>
          <p:nvPr/>
        </p:nvSpPr>
        <p:spPr>
          <a:xfrm>
            <a:off x="822960" y="987552"/>
            <a:ext cx="7315200" cy="292608"/>
          </a:xfrm>
          <a:prstGeom prst="rect">
            <a:avLst/>
          </a:prstGeom>
          <a:noFill/>
        </p:spPr>
        <p:txBody>
          <a:bodyPr wrap="square" anchor="t" lIns="0" rIns="0" tIns="0" bIns="0">
            <a:spAutoFit/>
          </a:bodyPr>
          <a:lstStyle/>
          <a:p>
            <a:pPr algn="l">
              <a:spcAft>
                <a:spcPts val="0"/>
              </a:spcAft>
            </a:pPr>
            <a:r>
              <a:rPr sz="1300" b="0">
                <a:solidFill>
                  <a:srgbClr val="35618F"/>
                </a:solidFill>
                <a:latin typeface="IBM Plex Mono"/>
              </a:rPr>
              <a:t>WHY WE WIN</a:t>
            </a:r>
          </a:p>
        </p:txBody>
      </p:sp>
      <p:sp>
        <p:nvSpPr>
          <p:cNvPr id="6" name="TextBox 5"/>
          <p:cNvSpPr txBox="1"/>
          <p:nvPr/>
        </p:nvSpPr>
        <p:spPr>
          <a:xfrm>
            <a:off x="795528" y="1298448"/>
            <a:ext cx="10698480" cy="1828800"/>
          </a:xfrm>
          <a:prstGeom prst="rect">
            <a:avLst/>
          </a:prstGeom>
          <a:noFill/>
        </p:spPr>
        <p:txBody>
          <a:bodyPr wrap="square" anchor="t" lIns="0" rIns="0" tIns="0" bIns="0">
            <a:spAutoFit/>
          </a:bodyPr>
          <a:lstStyle/>
          <a:p>
            <a:pPr algn="l">
              <a:lnSpc>
                <a:spcPct val="102000"/>
              </a:lnSpc>
              <a:spcAft>
                <a:spcPts val="0"/>
              </a:spcAft>
            </a:pPr>
            <a:r>
              <a:rPr sz="4000" b="1">
                <a:solidFill>
                  <a:srgbClr val="10151E"/>
                </a:solidFill>
                <a:latin typeface="Montserrat"/>
              </a:rPr>
              <a:t>Fast proofs.</a:t>
            </a:r>
          </a:p>
          <a:p>
            <a:pPr algn="l">
              <a:lnSpc>
                <a:spcPct val="102000"/>
              </a:lnSpc>
              <a:spcAft>
                <a:spcPts val="0"/>
              </a:spcAft>
            </a:pPr>
            <a:r>
              <a:rPr sz="4000" b="1">
                <a:solidFill>
                  <a:srgbClr val="35618F"/>
                </a:solidFill>
                <a:latin typeface="Montserrat"/>
              </a:rPr>
              <a:t>Fraction of the cost.</a:t>
            </a:r>
          </a:p>
        </p:txBody>
      </p:sp>
      <p:sp>
        <p:nvSpPr>
          <p:cNvPr id="7" name="Rounded Rectangle 6"/>
          <p:cNvSpPr/>
          <p:nvPr/>
        </p:nvSpPr>
        <p:spPr>
          <a:xfrm>
            <a:off x="822960" y="2743200"/>
            <a:ext cx="5230368" cy="3310128"/>
          </a:xfrm>
          <a:prstGeom prst="roundRect">
            <a:avLst>
              <a:gd name="adj" fmla="val 5500"/>
            </a:avLst>
          </a:prstGeom>
          <a:solidFill>
            <a:srgbClr val="FFFFFF"/>
          </a:solidFill>
          <a:ln w="12700">
            <a:solidFill>
              <a:srgbClr val="DCE2EC"/>
            </a:solidFill>
          </a:ln>
          <a:effectLst/>
        </p:spPr>
        <p:style>
          <a:lnRef idx="1">
            <a:schemeClr val="accent1"/>
          </a:lnRef>
          <a:fillRef idx="3">
            <a:schemeClr val="accent1"/>
          </a:fillRef>
          <a:effectRef idx="2">
            <a:schemeClr val="accent1"/>
          </a:effectRef>
          <a:fontRef idx="minor">
            <a:schemeClr val="lt1"/>
          </a:fontRef>
        </p:style>
        <p:txBody>
          <a:bodyPr rtlCol="0" anchor="t" wrap="square" lIns="219456" rIns="219456" tIns="155448" bIns="155448"/>
          <a:lstStyle/>
          <a:p>
            <a:pPr algn="l">
              <a:spcAft>
                <a:spcPts val="800"/>
              </a:spcAft>
            </a:pPr>
            <a:r>
              <a:rPr sz="1100" b="0">
                <a:solidFill>
                  <a:srgbClr val="7C89A0"/>
                </a:solidFill>
                <a:latin typeface="IBM Plex Mono"/>
              </a:rPr>
              <a:t>MEASURED SPEED</a:t>
            </a:r>
          </a:p>
          <a:p>
            <a:pPr algn="l">
              <a:lnSpc>
                <a:spcPct val="105000"/>
              </a:lnSpc>
              <a:spcAft>
                <a:spcPts val="1000"/>
              </a:spcAft>
            </a:pPr>
            <a:r>
              <a:rPr sz="1900" b="1">
                <a:solidFill>
                  <a:srgbClr val="10151E"/>
                </a:solidFill>
                <a:latin typeface="Space Grotesk"/>
              </a:rPr>
              <a:t>0.6–1.4s in-browser. </a:t>
            </a:r>
            <a:r>
              <a:rPr sz="1900" b="1">
                <a:solidFill>
                  <a:srgbClr val="35618F"/>
                </a:solidFill>
                <a:latin typeface="Space Grotesk"/>
              </a:rPr>
              <a:t>Measured, not promised.</a:t>
            </a:r>
          </a:p>
          <a:p>
            <a:pPr algn="l">
              <a:spcAft>
                <a:spcPts val="600"/>
              </a:spcAft>
            </a:pPr>
            <a:r>
              <a:rPr sz="1250" b="0">
                <a:solidFill>
                  <a:srgbClr val="7C89A0"/>
                </a:solidFill>
                <a:latin typeface="Space Grotesk"/>
              </a:rPr>
              <a:t>·  </a:t>
            </a:r>
            <a:r>
              <a:rPr sz="1250" b="0">
                <a:solidFill>
                  <a:srgbClr val="46536B"/>
                </a:solidFill>
                <a:latin typeface="Space Grotesk"/>
              </a:rPr>
              <a:t>Aztec ≈ 6.8s · Zcash ≈ 40s · Railgun seconds</a:t>
            </a:r>
          </a:p>
          <a:p>
            <a:pPr algn="l">
              <a:spcAft>
                <a:spcPts val="600"/>
              </a:spcAft>
            </a:pPr>
            <a:r>
              <a:rPr sz="1250" b="0">
                <a:solidFill>
                  <a:srgbClr val="7C89A0"/>
                </a:solidFill>
                <a:latin typeface="Space Grotesk"/>
              </a:rPr>
              <a:t>·  </a:t>
            </a:r>
            <a:r>
              <a:rPr sz="1250" b="1">
                <a:solidFill>
                  <a:srgbClr val="10151E"/>
                </a:solidFill>
                <a:latin typeface="Space Grotesk"/>
              </a:rPr>
              <a:t>136k CU </a:t>
            </a:r>
            <a:r>
              <a:rPr sz="1250" b="0">
                <a:solidFill>
                  <a:srgbClr val="46536B"/>
                </a:solidFill>
                <a:latin typeface="Space Grotesk"/>
              </a:rPr>
              <a:t>per transfer: 30 to 45% of what others in the space burn</a:t>
            </a:r>
          </a:p>
          <a:p>
            <a:pPr algn="l">
              <a:spcAft>
                <a:spcPts val="0"/>
              </a:spcAft>
            </a:pPr>
            <a:r>
              <a:rPr sz="1250" b="0">
                <a:solidFill>
                  <a:srgbClr val="7C89A0"/>
                </a:solidFill>
                <a:latin typeface="Space Grotesk"/>
              </a:rPr>
              <a:t>·  </a:t>
            </a:r>
            <a:r>
              <a:rPr sz="1250" b="0">
                <a:solidFill>
                  <a:srgbClr val="46536B"/>
                </a:solidFill>
                <a:latin typeface="Space Grotesk"/>
              </a:rPr>
              <a:t>65 KB on-chain program: proof verification at Solana cost</a:t>
            </a:r>
          </a:p>
        </p:txBody>
      </p:sp>
      <p:sp>
        <p:nvSpPr>
          <p:cNvPr id="8" name="Rounded Rectangle 7"/>
          <p:cNvSpPr/>
          <p:nvPr/>
        </p:nvSpPr>
        <p:spPr>
          <a:xfrm>
            <a:off x="6181344" y="2743200"/>
            <a:ext cx="5230368" cy="3310128"/>
          </a:xfrm>
          <a:prstGeom prst="roundRect">
            <a:avLst>
              <a:gd name="adj" fmla="val 5500"/>
            </a:avLst>
          </a:prstGeom>
          <a:solidFill>
            <a:srgbClr val="FFFFFF"/>
          </a:solidFill>
          <a:ln w="12700">
            <a:solidFill>
              <a:srgbClr val="DCE2EC"/>
            </a:solidFill>
          </a:ln>
          <a:effectLst/>
        </p:spPr>
        <p:style>
          <a:lnRef idx="1">
            <a:schemeClr val="accent1"/>
          </a:lnRef>
          <a:fillRef idx="3">
            <a:schemeClr val="accent1"/>
          </a:fillRef>
          <a:effectRef idx="2">
            <a:schemeClr val="accent1"/>
          </a:effectRef>
          <a:fontRef idx="minor">
            <a:schemeClr val="lt1"/>
          </a:fontRef>
        </p:style>
        <p:txBody>
          <a:bodyPr rtlCol="0" anchor="t" wrap="square" lIns="219456" rIns="219456" tIns="155448" bIns="155448"/>
          <a:lstStyle/>
          <a:p>
            <a:pPr algn="l">
              <a:spcAft>
                <a:spcPts val="800"/>
              </a:spcAft>
            </a:pPr>
            <a:r>
              <a:rPr sz="1100" b="0">
                <a:solidFill>
                  <a:srgbClr val="7C89A0"/>
                </a:solidFill>
                <a:latin typeface="IBM Plex Mono"/>
              </a:rPr>
              <a:t>BUILT DIFFERENT</a:t>
            </a:r>
          </a:p>
          <a:p>
            <a:pPr algn="l">
              <a:lnSpc>
                <a:spcPct val="105000"/>
              </a:lnSpc>
              <a:spcAft>
                <a:spcPts val="1000"/>
              </a:spcAft>
            </a:pPr>
            <a:r>
              <a:rPr sz="1900" b="1">
                <a:solidFill>
                  <a:srgbClr val="10151E"/>
                </a:solidFill>
                <a:latin typeface="Space Grotesk"/>
              </a:rPr>
              <a:t>Everything </a:t>
            </a:r>
            <a:r>
              <a:rPr sz="1900" b="1">
                <a:solidFill>
                  <a:srgbClr val="35618F"/>
                </a:solidFill>
                <a:latin typeface="Space Grotesk"/>
              </a:rPr>
              <a:t>in-house.</a:t>
            </a:r>
            <a:r>
              <a:rPr sz="1900" b="1">
                <a:solidFill>
                  <a:srgbClr val="10151E"/>
                </a:solidFill>
                <a:latin typeface="Space Grotesk"/>
              </a:rPr>
              <a:t> Everything ours.</a:t>
            </a:r>
          </a:p>
          <a:p>
            <a:pPr algn="l">
              <a:spcAft>
                <a:spcPts val="600"/>
              </a:spcAft>
            </a:pPr>
            <a:r>
              <a:rPr sz="1250" b="0">
                <a:solidFill>
                  <a:srgbClr val="7C89A0"/>
                </a:solidFill>
                <a:latin typeface="Space Grotesk"/>
              </a:rPr>
              <a:t>·  </a:t>
            </a:r>
            <a:r>
              <a:rPr sz="1250" b="0">
                <a:solidFill>
                  <a:srgbClr val="46536B"/>
                </a:solidFill>
                <a:latin typeface="Space Grotesk"/>
              </a:rPr>
              <a:t>Program, circuits, SDK, relayer: all built in-house</a:t>
            </a:r>
          </a:p>
          <a:p>
            <a:pPr algn="l">
              <a:spcAft>
                <a:spcPts val="600"/>
              </a:spcAft>
            </a:pPr>
            <a:r>
              <a:rPr sz="1250" b="0">
                <a:solidFill>
                  <a:srgbClr val="7C89A0"/>
                </a:solidFill>
                <a:latin typeface="Space Grotesk"/>
              </a:rPr>
              <a:t>·  </a:t>
            </a:r>
            <a:r>
              <a:rPr sz="1250" b="0">
                <a:solidFill>
                  <a:srgbClr val="46536B"/>
                </a:solidFill>
                <a:latin typeface="Space Grotesk"/>
              </a:rPr>
              <a:t>Payroll already runs on it: crash-safe, one signature, can't double-pay</a:t>
            </a:r>
          </a:p>
          <a:p>
            <a:pPr algn="l">
              <a:spcAft>
                <a:spcPts val="0"/>
              </a:spcAft>
            </a:pPr>
            <a:r>
              <a:rPr sz="1250" b="0">
                <a:solidFill>
                  <a:srgbClr val="7C89A0"/>
                </a:solidFill>
                <a:latin typeface="Space Grotesk"/>
              </a:rPr>
              <a:t>·  </a:t>
            </a:r>
            <a:r>
              <a:rPr sz="1250" b="0">
                <a:solidFill>
                  <a:srgbClr val="46536B"/>
                </a:solidFill>
                <a:latin typeface="Space Grotesk"/>
              </a:rPr>
              <a:t>Whole stack built from zero, in months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pic>
        <p:nvPicPr>
          <p:cNvPr id="2" name="Picture 1" descr="pitch-img-logo.png"/>
          <p:cNvPicPr>
            <a:picLocks noChangeAspect="1"/>
          </p:cNvPicPr>
          <p:nvPr/>
        </p:nvPicPr>
        <p:blipFill>
          <a:blip r:embed="rId3"/>
          <a:stretch>
            <a:fillRect/>
          </a:stretch>
        </p:blipFill>
        <p:spPr>
          <a:xfrm>
            <a:off x="822960" y="384048"/>
            <a:ext cx="292608" cy="292608"/>
          </a:xfrm>
          <a:prstGeom prst="rect">
            <a:avLst/>
          </a:prstGeom>
        </p:spPr>
      </p:pic>
      <p:sp>
        <p:nvSpPr>
          <p:cNvPr id="3" name="TextBox 2"/>
          <p:cNvSpPr txBox="1"/>
          <p:nvPr/>
        </p:nvSpPr>
        <p:spPr>
          <a:xfrm>
            <a:off x="1207008" y="411480"/>
            <a:ext cx="2743200" cy="274320"/>
          </a:xfrm>
          <a:prstGeom prst="rect">
            <a:avLst/>
          </a:prstGeom>
          <a:noFill/>
        </p:spPr>
        <p:txBody>
          <a:bodyPr wrap="square" anchor="t" lIns="0" rIns="0" tIns="0" bIns="0">
            <a:spAutoFit/>
          </a:bodyPr>
          <a:lstStyle/>
          <a:p>
            <a:pPr algn="l">
              <a:spcAft>
                <a:spcPts val="0"/>
              </a:spcAft>
            </a:pPr>
            <a:r>
              <a:rPr sz="1200" b="1">
                <a:solidFill>
                  <a:srgbClr val="10151E"/>
                </a:solidFill>
                <a:latin typeface="Space Grotesk"/>
              </a:rPr>
              <a:t>CHARON</a:t>
            </a:r>
          </a:p>
        </p:txBody>
      </p:sp>
      <p:sp>
        <p:nvSpPr>
          <p:cNvPr id="4" name="TextBox 3"/>
          <p:cNvSpPr txBox="1"/>
          <p:nvPr/>
        </p:nvSpPr>
        <p:spPr>
          <a:xfrm>
            <a:off x="10058400" y="411480"/>
            <a:ext cx="1307592" cy="274320"/>
          </a:xfrm>
          <a:prstGeom prst="rect">
            <a:avLst/>
          </a:prstGeom>
          <a:noFill/>
        </p:spPr>
        <p:txBody>
          <a:bodyPr wrap="square" anchor="t" lIns="0" rIns="0" tIns="0" bIns="0">
            <a:spAutoFit/>
          </a:bodyPr>
          <a:lstStyle/>
          <a:p>
            <a:pPr algn="r">
              <a:spcAft>
                <a:spcPts val="0"/>
              </a:spcAft>
            </a:pPr>
            <a:r>
              <a:rPr sz="1100" b="0">
                <a:solidFill>
                  <a:srgbClr val="7C89A0"/>
                </a:solidFill>
                <a:latin typeface="IBM Plex Mono"/>
              </a:rPr>
              <a:t>07 · 09</a:t>
            </a:r>
          </a:p>
        </p:txBody>
      </p:sp>
      <p:sp>
        <p:nvSpPr>
          <p:cNvPr id="5" name="TextBox 4"/>
          <p:cNvSpPr txBox="1"/>
          <p:nvPr/>
        </p:nvSpPr>
        <p:spPr>
          <a:xfrm>
            <a:off x="822960" y="987552"/>
            <a:ext cx="7315200" cy="292608"/>
          </a:xfrm>
          <a:prstGeom prst="rect">
            <a:avLst/>
          </a:prstGeom>
          <a:noFill/>
        </p:spPr>
        <p:txBody>
          <a:bodyPr wrap="square" anchor="t" lIns="0" rIns="0" tIns="0" bIns="0">
            <a:spAutoFit/>
          </a:bodyPr>
          <a:lstStyle/>
          <a:p>
            <a:pPr algn="l">
              <a:spcAft>
                <a:spcPts val="0"/>
              </a:spcAft>
            </a:pPr>
            <a:r>
              <a:rPr sz="1300" b="0">
                <a:solidFill>
                  <a:srgbClr val="35618F"/>
                </a:solidFill>
                <a:latin typeface="IBM Plex Mono"/>
              </a:rPr>
              <a:t>ROADMAP</a:t>
            </a:r>
          </a:p>
        </p:txBody>
      </p:sp>
      <p:sp>
        <p:nvSpPr>
          <p:cNvPr id="6" name="TextBox 5"/>
          <p:cNvSpPr txBox="1"/>
          <p:nvPr/>
        </p:nvSpPr>
        <p:spPr>
          <a:xfrm>
            <a:off x="795528" y="1298448"/>
            <a:ext cx="10698480" cy="1828800"/>
          </a:xfrm>
          <a:prstGeom prst="rect">
            <a:avLst/>
          </a:prstGeom>
          <a:noFill/>
        </p:spPr>
        <p:txBody>
          <a:bodyPr wrap="square" anchor="t" lIns="0" rIns="0" tIns="0" bIns="0">
            <a:spAutoFit/>
          </a:bodyPr>
          <a:lstStyle/>
          <a:p>
            <a:pPr algn="l">
              <a:lnSpc>
                <a:spcPct val="102000"/>
              </a:lnSpc>
              <a:spcAft>
                <a:spcPts val="0"/>
              </a:spcAft>
            </a:pPr>
            <a:r>
              <a:rPr sz="4000" b="1">
                <a:solidFill>
                  <a:srgbClr val="10151E"/>
                </a:solidFill>
                <a:latin typeface="Montserrat"/>
              </a:rPr>
              <a:t>From devnet</a:t>
            </a:r>
          </a:p>
          <a:p>
            <a:pPr algn="l">
              <a:lnSpc>
                <a:spcPct val="102000"/>
              </a:lnSpc>
              <a:spcAft>
                <a:spcPts val="0"/>
              </a:spcAft>
            </a:pPr>
            <a:r>
              <a:rPr sz="4000" b="1">
                <a:solidFill>
                  <a:srgbClr val="35618F"/>
                </a:solidFill>
                <a:latin typeface="Montserrat"/>
              </a:rPr>
              <a:t>to the default.</a:t>
            </a:r>
          </a:p>
        </p:txBody>
      </p:sp>
      <p:sp>
        <p:nvSpPr>
          <p:cNvPr id="7" name="Rectangle 6"/>
          <p:cNvSpPr/>
          <p:nvPr/>
        </p:nvSpPr>
        <p:spPr>
          <a:xfrm>
            <a:off x="822960" y="2999232"/>
            <a:ext cx="10543032" cy="15240"/>
          </a:xfrm>
          <a:prstGeom prst="rect">
            <a:avLst/>
          </a:prstGeom>
          <a:solidFill>
            <a:srgbClr val="B9C3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18388" y="2926080"/>
            <a:ext cx="155448" cy="155448"/>
          </a:xfrm>
          <a:prstGeom prst="ellipse">
            <a:avLst/>
          </a:prstGeom>
          <a:solidFill>
            <a:srgbClr val="FFFFFF"/>
          </a:solidFill>
          <a:ln w="17780">
            <a:solidFill>
              <a:srgbClr val="3561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3218688"/>
            <a:ext cx="2514600" cy="2011680"/>
          </a:xfrm>
          <a:prstGeom prst="rect">
            <a:avLst/>
          </a:prstGeom>
          <a:noFill/>
        </p:spPr>
        <p:txBody>
          <a:bodyPr wrap="square" anchor="t" lIns="0" rIns="0" tIns="0" bIns="0">
            <a:spAutoFit/>
          </a:bodyPr>
          <a:lstStyle/>
          <a:p>
            <a:pPr algn="l">
              <a:spcAft>
                <a:spcPts val="600"/>
              </a:spcAft>
            </a:pPr>
            <a:r>
              <a:rPr sz="1100" b="1">
                <a:solidFill>
                  <a:srgbClr val="27825A"/>
                </a:solidFill>
                <a:latin typeface="IBM Plex Mono"/>
              </a:rPr>
              <a:t>NOW</a:t>
            </a:r>
          </a:p>
          <a:p>
            <a:pPr algn="l">
              <a:spcAft>
                <a:spcPts val="600"/>
              </a:spcAft>
            </a:pPr>
            <a:r>
              <a:rPr sz="1650" b="1">
                <a:solidFill>
                  <a:srgbClr val="10151E"/>
                </a:solidFill>
                <a:latin typeface="Montserrat"/>
              </a:rPr>
              <a:t>Live on devnet</a:t>
            </a:r>
          </a:p>
          <a:p>
            <a:pPr algn="l">
              <a:spcAft>
                <a:spcPts val="0"/>
              </a:spcAft>
            </a:pPr>
            <a:r>
              <a:rPr sz="1200" b="0">
                <a:solidFill>
                  <a:srgbClr val="46536B"/>
                </a:solidFill>
                <a:latin typeface="Space Grotesk"/>
              </a:rPr>
              <a:t>Send, swap, pay: all in beta, measured, 9 beta testers.</a:t>
            </a:r>
          </a:p>
        </p:txBody>
      </p:sp>
      <p:sp>
        <p:nvSpPr>
          <p:cNvPr id="10" name="Oval 9"/>
          <p:cNvSpPr/>
          <p:nvPr/>
        </p:nvSpPr>
        <p:spPr>
          <a:xfrm>
            <a:off x="3506724" y="2926080"/>
            <a:ext cx="155448" cy="155448"/>
          </a:xfrm>
          <a:prstGeom prst="ellipse">
            <a:avLst/>
          </a:prstGeom>
          <a:solidFill>
            <a:srgbClr val="FFFFFF"/>
          </a:solidFill>
          <a:ln w="17780">
            <a:solidFill>
              <a:srgbClr val="3561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11296" y="3218688"/>
            <a:ext cx="2514600" cy="2011680"/>
          </a:xfrm>
          <a:prstGeom prst="rect">
            <a:avLst/>
          </a:prstGeom>
          <a:noFill/>
        </p:spPr>
        <p:txBody>
          <a:bodyPr wrap="square" anchor="t" lIns="0" rIns="0" tIns="0" bIns="0">
            <a:spAutoFit/>
          </a:bodyPr>
          <a:lstStyle/>
          <a:p>
            <a:pPr algn="l">
              <a:spcAft>
                <a:spcPts val="600"/>
              </a:spcAft>
            </a:pPr>
            <a:r>
              <a:rPr sz="1100" b="1">
                <a:solidFill>
                  <a:srgbClr val="7C89A0"/>
                </a:solidFill>
                <a:latin typeface="IBM Plex Mono"/>
              </a:rPr>
              <a:t>NEXT</a:t>
            </a:r>
          </a:p>
          <a:p>
            <a:pPr algn="l">
              <a:spcAft>
                <a:spcPts val="600"/>
              </a:spcAft>
            </a:pPr>
            <a:r>
              <a:rPr sz="1650" b="1">
                <a:solidFill>
                  <a:srgbClr val="10151E"/>
                </a:solidFill>
                <a:latin typeface="Montserrat"/>
              </a:rPr>
              <a:t>Closed beta + audit</a:t>
            </a:r>
          </a:p>
          <a:p>
            <a:pPr algn="l">
              <a:spcAft>
                <a:spcPts val="0"/>
              </a:spcAft>
            </a:pPr>
            <a:r>
              <a:rPr sz="1200" b="0">
                <a:solidFill>
                  <a:srgbClr val="46536B"/>
                </a:solidFill>
                <a:latin typeface="Space Grotesk"/>
              </a:rPr>
              <a:t>Real teams in closed beta. Independent security audit.</a:t>
            </a:r>
          </a:p>
        </p:txBody>
      </p:sp>
      <p:sp>
        <p:nvSpPr>
          <p:cNvPr id="12" name="Oval 11"/>
          <p:cNvSpPr/>
          <p:nvPr/>
        </p:nvSpPr>
        <p:spPr>
          <a:xfrm>
            <a:off x="6195060" y="2926080"/>
            <a:ext cx="155448" cy="155448"/>
          </a:xfrm>
          <a:prstGeom prst="ellipse">
            <a:avLst/>
          </a:prstGeom>
          <a:solidFill>
            <a:srgbClr val="FFFFFF"/>
          </a:solidFill>
          <a:ln w="17780">
            <a:solidFill>
              <a:srgbClr val="3561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99632" y="3218688"/>
            <a:ext cx="2514600" cy="2011680"/>
          </a:xfrm>
          <a:prstGeom prst="rect">
            <a:avLst/>
          </a:prstGeom>
          <a:noFill/>
        </p:spPr>
        <p:txBody>
          <a:bodyPr wrap="square" anchor="t" lIns="0" rIns="0" tIns="0" bIns="0">
            <a:spAutoFit/>
          </a:bodyPr>
          <a:lstStyle/>
          <a:p>
            <a:pPr algn="l">
              <a:spcAft>
                <a:spcPts val="600"/>
              </a:spcAft>
            </a:pPr>
            <a:r>
              <a:rPr sz="1100" b="1">
                <a:solidFill>
                  <a:srgbClr val="7C89A0"/>
                </a:solidFill>
                <a:latin typeface="IBM Plex Mono"/>
              </a:rPr>
              <a:t>THEN</a:t>
            </a:r>
          </a:p>
          <a:p>
            <a:pPr algn="l">
              <a:spcAft>
                <a:spcPts val="600"/>
              </a:spcAft>
            </a:pPr>
            <a:r>
              <a:rPr sz="1650" b="1">
                <a:solidFill>
                  <a:srgbClr val="10151E"/>
                </a:solidFill>
                <a:latin typeface="Montserrat"/>
              </a:rPr>
              <a:t>Mainnet beta</a:t>
            </a:r>
          </a:p>
          <a:p>
            <a:pPr algn="l">
              <a:spcAft>
                <a:spcPts val="0"/>
              </a:spcAft>
            </a:pPr>
            <a:r>
              <a:rPr sz="1200" b="0">
                <a:solidFill>
                  <a:srgbClr val="46536B"/>
                </a:solidFill>
                <a:latin typeface="Space Grotesk"/>
              </a:rPr>
              <a:t>Real teams on mainnet, payroll as the flagship use case.</a:t>
            </a:r>
          </a:p>
        </p:txBody>
      </p:sp>
      <p:sp>
        <p:nvSpPr>
          <p:cNvPr id="14" name="Oval 13"/>
          <p:cNvSpPr/>
          <p:nvPr/>
        </p:nvSpPr>
        <p:spPr>
          <a:xfrm>
            <a:off x="8883396" y="2926080"/>
            <a:ext cx="155448" cy="155448"/>
          </a:xfrm>
          <a:prstGeom prst="ellipse">
            <a:avLst/>
          </a:prstGeom>
          <a:solidFill>
            <a:srgbClr val="FFFFFF"/>
          </a:solidFill>
          <a:ln w="17780">
            <a:solidFill>
              <a:srgbClr val="3561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87968" y="3218688"/>
            <a:ext cx="2514600" cy="2011680"/>
          </a:xfrm>
          <a:prstGeom prst="rect">
            <a:avLst/>
          </a:prstGeom>
          <a:noFill/>
        </p:spPr>
        <p:txBody>
          <a:bodyPr wrap="square" anchor="t" lIns="0" rIns="0" tIns="0" bIns="0">
            <a:spAutoFit/>
          </a:bodyPr>
          <a:lstStyle/>
          <a:p>
            <a:pPr algn="l">
              <a:spcAft>
                <a:spcPts val="600"/>
              </a:spcAft>
            </a:pPr>
            <a:r>
              <a:rPr sz="1100" b="1">
                <a:solidFill>
                  <a:srgbClr val="7C89A0"/>
                </a:solidFill>
                <a:latin typeface="IBM Plex Mono"/>
              </a:rPr>
              <a:t>BEYOND</a:t>
            </a:r>
          </a:p>
          <a:p>
            <a:pPr algn="l">
              <a:spcAft>
                <a:spcPts val="600"/>
              </a:spcAft>
            </a:pPr>
            <a:r>
              <a:rPr sz="1650" b="1">
                <a:solidFill>
                  <a:srgbClr val="10151E"/>
                </a:solidFill>
                <a:latin typeface="Montserrat"/>
              </a:rPr>
              <a:t>Charon SDK</a:t>
            </a:r>
          </a:p>
          <a:p>
            <a:pPr algn="l">
              <a:spcAft>
                <a:spcPts val="0"/>
              </a:spcAft>
            </a:pPr>
            <a:r>
              <a:rPr sz="1200" b="0">
                <a:solidFill>
                  <a:srgbClr val="46536B"/>
                </a:solidFill>
                <a:latin typeface="Space Grotesk"/>
              </a:rPr>
              <a:t>Any app ships private payments on the protocol: wallets, agents, treasuries.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pic>
        <p:nvPicPr>
          <p:cNvPr id="2" name="Picture 1" descr="pitch-img-logo.png"/>
          <p:cNvPicPr>
            <a:picLocks noChangeAspect="1"/>
          </p:cNvPicPr>
          <p:nvPr/>
        </p:nvPicPr>
        <p:blipFill>
          <a:blip r:embed="rId3"/>
          <a:stretch>
            <a:fillRect/>
          </a:stretch>
        </p:blipFill>
        <p:spPr>
          <a:xfrm>
            <a:off x="822960" y="384048"/>
            <a:ext cx="292608" cy="292608"/>
          </a:xfrm>
          <a:prstGeom prst="rect">
            <a:avLst/>
          </a:prstGeom>
        </p:spPr>
      </p:pic>
      <p:sp>
        <p:nvSpPr>
          <p:cNvPr id="3" name="TextBox 2"/>
          <p:cNvSpPr txBox="1"/>
          <p:nvPr/>
        </p:nvSpPr>
        <p:spPr>
          <a:xfrm>
            <a:off x="1207008" y="411480"/>
            <a:ext cx="2743200" cy="274320"/>
          </a:xfrm>
          <a:prstGeom prst="rect">
            <a:avLst/>
          </a:prstGeom>
          <a:noFill/>
        </p:spPr>
        <p:txBody>
          <a:bodyPr wrap="square" anchor="t" lIns="0" rIns="0" tIns="0" bIns="0">
            <a:spAutoFit/>
          </a:bodyPr>
          <a:lstStyle/>
          <a:p>
            <a:pPr algn="l">
              <a:spcAft>
                <a:spcPts val="0"/>
              </a:spcAft>
            </a:pPr>
            <a:r>
              <a:rPr sz="1200" b="1">
                <a:solidFill>
                  <a:srgbClr val="10151E"/>
                </a:solidFill>
                <a:latin typeface="Space Grotesk"/>
              </a:rPr>
              <a:t>CHARON</a:t>
            </a:r>
          </a:p>
        </p:txBody>
      </p:sp>
      <p:sp>
        <p:nvSpPr>
          <p:cNvPr id="4" name="TextBox 3"/>
          <p:cNvSpPr txBox="1"/>
          <p:nvPr/>
        </p:nvSpPr>
        <p:spPr>
          <a:xfrm>
            <a:off x="10058400" y="411480"/>
            <a:ext cx="1307592" cy="274320"/>
          </a:xfrm>
          <a:prstGeom prst="rect">
            <a:avLst/>
          </a:prstGeom>
          <a:noFill/>
        </p:spPr>
        <p:txBody>
          <a:bodyPr wrap="square" anchor="t" lIns="0" rIns="0" tIns="0" bIns="0">
            <a:spAutoFit/>
          </a:bodyPr>
          <a:lstStyle/>
          <a:p>
            <a:pPr algn="r">
              <a:spcAft>
                <a:spcPts val="0"/>
              </a:spcAft>
            </a:pPr>
            <a:r>
              <a:rPr sz="1100" b="0">
                <a:solidFill>
                  <a:srgbClr val="7C89A0"/>
                </a:solidFill>
                <a:latin typeface="IBM Plex Mono"/>
              </a:rPr>
              <a:t>08 · 09</a:t>
            </a:r>
          </a:p>
        </p:txBody>
      </p:sp>
      <p:sp>
        <p:nvSpPr>
          <p:cNvPr id="5" name="TextBox 4"/>
          <p:cNvSpPr txBox="1"/>
          <p:nvPr/>
        </p:nvSpPr>
        <p:spPr>
          <a:xfrm>
            <a:off x="822960" y="987552"/>
            <a:ext cx="7315200" cy="292608"/>
          </a:xfrm>
          <a:prstGeom prst="rect">
            <a:avLst/>
          </a:prstGeom>
          <a:noFill/>
        </p:spPr>
        <p:txBody>
          <a:bodyPr wrap="square" anchor="t" lIns="0" rIns="0" tIns="0" bIns="0">
            <a:spAutoFit/>
          </a:bodyPr>
          <a:lstStyle/>
          <a:p>
            <a:pPr algn="l">
              <a:spcAft>
                <a:spcPts val="0"/>
              </a:spcAft>
            </a:pPr>
            <a:r>
              <a:rPr sz="1300" b="0">
                <a:solidFill>
                  <a:srgbClr val="35618F"/>
                </a:solidFill>
                <a:latin typeface="IBM Plex Mono"/>
              </a:rPr>
              <a:t>TEAM: FOUR, ALL TECHNICAL</a:t>
            </a:r>
          </a:p>
        </p:txBody>
      </p:sp>
      <p:sp>
        <p:nvSpPr>
          <p:cNvPr id="6" name="TextBox 5"/>
          <p:cNvSpPr txBox="1"/>
          <p:nvPr/>
        </p:nvSpPr>
        <p:spPr>
          <a:xfrm>
            <a:off x="795528" y="1298448"/>
            <a:ext cx="10698480" cy="1828800"/>
          </a:xfrm>
          <a:prstGeom prst="rect">
            <a:avLst/>
          </a:prstGeom>
          <a:noFill/>
        </p:spPr>
        <p:txBody>
          <a:bodyPr wrap="square" anchor="t" lIns="0" rIns="0" tIns="0" bIns="0">
            <a:spAutoFit/>
          </a:bodyPr>
          <a:lstStyle/>
          <a:p>
            <a:pPr algn="l">
              <a:lnSpc>
                <a:spcPct val="102000"/>
              </a:lnSpc>
              <a:spcAft>
                <a:spcPts val="0"/>
              </a:spcAft>
            </a:pPr>
            <a:r>
              <a:rPr sz="4000" b="1">
                <a:solidFill>
                  <a:srgbClr val="10151E"/>
                </a:solidFill>
                <a:latin typeface="Montserrat"/>
              </a:rPr>
              <a:t>One stack. Four builders.</a:t>
            </a:r>
          </a:p>
        </p:txBody>
      </p:sp>
      <p:sp>
        <p:nvSpPr>
          <p:cNvPr id="7" name="Rounded Rectangle 6"/>
          <p:cNvSpPr/>
          <p:nvPr/>
        </p:nvSpPr>
        <p:spPr>
          <a:xfrm>
            <a:off x="822960" y="2331720"/>
            <a:ext cx="5184648" cy="1874519"/>
          </a:xfrm>
          <a:prstGeom prst="roundRect">
            <a:avLst>
              <a:gd name="adj" fmla="val 5500"/>
            </a:avLst>
          </a:prstGeom>
          <a:solidFill>
            <a:srgbClr val="FFFFFF"/>
          </a:solidFill>
          <a:ln w="12700">
            <a:solidFill>
              <a:srgbClr val="DCE2EC"/>
            </a:solidFill>
          </a:ln>
          <a:effectLst/>
        </p:spPr>
        <p:style>
          <a:lnRef idx="1">
            <a:schemeClr val="accent1"/>
          </a:lnRef>
          <a:fillRef idx="3">
            <a:schemeClr val="accent1"/>
          </a:fillRef>
          <a:effectRef idx="2">
            <a:schemeClr val="accent1"/>
          </a:effectRef>
          <a:fontRef idx="minor">
            <a:schemeClr val="lt1"/>
          </a:fontRef>
        </p:style>
        <p:txBody>
          <a:bodyPr rtlCol="0" anchor="t" wrap="square" lIns="219456" rIns="219456" tIns="155448" bIns="155448"/>
          <a:lstStyle/>
          <a:p>
            <a:pPr algn="l">
              <a:spcAft>
                <a:spcPts val="300"/>
              </a:spcAft>
            </a:pPr>
            <a:r>
              <a:rPr sz="2000" b="1">
                <a:solidFill>
                  <a:srgbClr val="10151E"/>
                </a:solidFill>
                <a:latin typeface="Montserrat"/>
              </a:rPr>
              <a:t>Kartik</a:t>
            </a:r>
          </a:p>
          <a:p>
            <a:pPr algn="l">
              <a:spcAft>
                <a:spcPts val="800"/>
              </a:spcAft>
            </a:pPr>
            <a:r>
              <a:rPr sz="950" b="0">
                <a:solidFill>
                  <a:srgbClr val="7C89A0"/>
                </a:solidFill>
                <a:latin typeface="IBM Plex Mono"/>
              </a:rPr>
              <a:t>TECHNICAL CO-FOUNDER</a:t>
            </a:r>
          </a:p>
          <a:p>
            <a:pPr algn="l">
              <a:spcAft>
                <a:spcPts val="0"/>
              </a:spcAft>
            </a:pPr>
            <a:r>
              <a:rPr sz="1200" b="0">
                <a:solidFill>
                  <a:srgbClr val="46536B"/>
                </a:solidFill>
                <a:latin typeface="Space Grotesk"/>
              </a:rPr>
              <a:t>Built SolStudio before this: 50+ users. Grad: Rektoff · Turbine · Ack3AI · Superteam · prev Aarambh Labs, Wizz.</a:t>
            </a:r>
          </a:p>
        </p:txBody>
      </p:sp>
      <p:sp>
        <p:nvSpPr>
          <p:cNvPr id="8" name="Rounded Rectangle 7"/>
          <p:cNvSpPr/>
          <p:nvPr/>
        </p:nvSpPr>
        <p:spPr>
          <a:xfrm>
            <a:off x="6181344" y="2331720"/>
            <a:ext cx="5184648" cy="1874519"/>
          </a:xfrm>
          <a:prstGeom prst="roundRect">
            <a:avLst>
              <a:gd name="adj" fmla="val 5500"/>
            </a:avLst>
          </a:prstGeom>
          <a:solidFill>
            <a:srgbClr val="FFFFFF"/>
          </a:solidFill>
          <a:ln w="12700">
            <a:solidFill>
              <a:srgbClr val="DCE2EC"/>
            </a:solidFill>
          </a:ln>
          <a:effectLst/>
        </p:spPr>
        <p:style>
          <a:lnRef idx="1">
            <a:schemeClr val="accent1"/>
          </a:lnRef>
          <a:fillRef idx="3">
            <a:schemeClr val="accent1"/>
          </a:fillRef>
          <a:effectRef idx="2">
            <a:schemeClr val="accent1"/>
          </a:effectRef>
          <a:fontRef idx="minor">
            <a:schemeClr val="lt1"/>
          </a:fontRef>
        </p:style>
        <p:txBody>
          <a:bodyPr rtlCol="0" anchor="t" wrap="square" lIns="219456" rIns="219456" tIns="155448" bIns="155448"/>
          <a:lstStyle/>
          <a:p>
            <a:pPr algn="l">
              <a:spcAft>
                <a:spcPts val="300"/>
              </a:spcAft>
            </a:pPr>
            <a:r>
              <a:rPr sz="2000" b="1">
                <a:solidFill>
                  <a:srgbClr val="10151E"/>
                </a:solidFill>
                <a:latin typeface="Montserrat"/>
              </a:rPr>
              <a:t>Namay</a:t>
            </a:r>
          </a:p>
          <a:p>
            <a:pPr algn="l">
              <a:spcAft>
                <a:spcPts val="800"/>
              </a:spcAft>
            </a:pPr>
            <a:r>
              <a:rPr sz="950" b="0">
                <a:solidFill>
                  <a:srgbClr val="7C89A0"/>
                </a:solidFill>
                <a:latin typeface="IBM Plex Mono"/>
              </a:rPr>
              <a:t>TECHNICAL CO-FOUNDER</a:t>
            </a:r>
          </a:p>
          <a:p>
            <a:pPr algn="l">
              <a:spcAft>
                <a:spcPts val="0"/>
              </a:spcAft>
            </a:pPr>
            <a:r>
              <a:rPr sz="1200" b="0">
                <a:solidFill>
                  <a:srgbClr val="46536B"/>
                </a:solidFill>
                <a:latin typeface="Space Grotesk"/>
              </a:rPr>
              <a:t>Accel+ builder, Turbine. Full-stack developer.</a:t>
            </a:r>
          </a:p>
        </p:txBody>
      </p:sp>
      <p:sp>
        <p:nvSpPr>
          <p:cNvPr id="9" name="Rounded Rectangle 8"/>
          <p:cNvSpPr/>
          <p:nvPr/>
        </p:nvSpPr>
        <p:spPr>
          <a:xfrm>
            <a:off x="822960" y="4343400"/>
            <a:ext cx="5184648" cy="1874519"/>
          </a:xfrm>
          <a:prstGeom prst="roundRect">
            <a:avLst>
              <a:gd name="adj" fmla="val 5500"/>
            </a:avLst>
          </a:prstGeom>
          <a:solidFill>
            <a:srgbClr val="FFFFFF"/>
          </a:solidFill>
          <a:ln w="12700">
            <a:solidFill>
              <a:srgbClr val="DCE2EC"/>
            </a:solidFill>
          </a:ln>
          <a:effectLst/>
        </p:spPr>
        <p:style>
          <a:lnRef idx="1">
            <a:schemeClr val="accent1"/>
          </a:lnRef>
          <a:fillRef idx="3">
            <a:schemeClr val="accent1"/>
          </a:fillRef>
          <a:effectRef idx="2">
            <a:schemeClr val="accent1"/>
          </a:effectRef>
          <a:fontRef idx="minor">
            <a:schemeClr val="lt1"/>
          </a:fontRef>
        </p:style>
        <p:txBody>
          <a:bodyPr rtlCol="0" anchor="t" wrap="square" lIns="219456" rIns="219456" tIns="155448" bIns="155448"/>
          <a:lstStyle/>
          <a:p>
            <a:pPr algn="l">
              <a:spcAft>
                <a:spcPts val="300"/>
              </a:spcAft>
            </a:pPr>
            <a:r>
              <a:rPr sz="2000" b="1">
                <a:solidFill>
                  <a:srgbClr val="10151E"/>
                </a:solidFill>
                <a:latin typeface="Montserrat"/>
              </a:rPr>
              <a:t>Vedansh</a:t>
            </a:r>
          </a:p>
          <a:p>
            <a:pPr algn="l">
              <a:spcAft>
                <a:spcPts val="800"/>
              </a:spcAft>
            </a:pPr>
            <a:r>
              <a:rPr sz="950" b="0">
                <a:solidFill>
                  <a:srgbClr val="7C89A0"/>
                </a:solidFill>
                <a:latin typeface="IBM Plex Mono"/>
              </a:rPr>
              <a:t>TECHNICAL CO-FOUNDER</a:t>
            </a:r>
          </a:p>
          <a:p>
            <a:pPr algn="l">
              <a:spcAft>
                <a:spcPts val="0"/>
              </a:spcAft>
            </a:pPr>
            <a:r>
              <a:rPr sz="1200" b="0">
                <a:solidFill>
                  <a:srgbClr val="46536B"/>
                </a:solidFill>
                <a:latin typeface="Space Grotesk"/>
              </a:rPr>
              <a:t>Turbine accelerated-builder grad. Certified auditor, Rektoff.</a:t>
            </a:r>
          </a:p>
        </p:txBody>
      </p:sp>
      <p:sp>
        <p:nvSpPr>
          <p:cNvPr id="10" name="Rounded Rectangle 9"/>
          <p:cNvSpPr/>
          <p:nvPr/>
        </p:nvSpPr>
        <p:spPr>
          <a:xfrm>
            <a:off x="6181344" y="4343400"/>
            <a:ext cx="5184648" cy="1874519"/>
          </a:xfrm>
          <a:prstGeom prst="roundRect">
            <a:avLst>
              <a:gd name="adj" fmla="val 5500"/>
            </a:avLst>
          </a:prstGeom>
          <a:solidFill>
            <a:srgbClr val="FFFFFF"/>
          </a:solidFill>
          <a:ln w="12700">
            <a:solidFill>
              <a:srgbClr val="DCE2EC"/>
            </a:solidFill>
          </a:ln>
          <a:effectLst/>
        </p:spPr>
        <p:style>
          <a:lnRef idx="1">
            <a:schemeClr val="accent1"/>
          </a:lnRef>
          <a:fillRef idx="3">
            <a:schemeClr val="accent1"/>
          </a:fillRef>
          <a:effectRef idx="2">
            <a:schemeClr val="accent1"/>
          </a:effectRef>
          <a:fontRef idx="minor">
            <a:schemeClr val="lt1"/>
          </a:fontRef>
        </p:style>
        <p:txBody>
          <a:bodyPr rtlCol="0" anchor="t" wrap="square" lIns="219456" rIns="219456" tIns="155448" bIns="155448"/>
          <a:lstStyle/>
          <a:p>
            <a:pPr algn="l">
              <a:spcAft>
                <a:spcPts val="300"/>
              </a:spcAft>
            </a:pPr>
            <a:r>
              <a:rPr sz="2000" b="1">
                <a:solidFill>
                  <a:srgbClr val="10151E"/>
                </a:solidFill>
                <a:latin typeface="Montserrat"/>
              </a:rPr>
              <a:t>Prasang</a:t>
            </a:r>
          </a:p>
          <a:p>
            <a:pPr algn="l">
              <a:spcAft>
                <a:spcPts val="800"/>
              </a:spcAft>
            </a:pPr>
            <a:r>
              <a:rPr sz="950" b="0">
                <a:solidFill>
                  <a:srgbClr val="7C89A0"/>
                </a:solidFill>
                <a:latin typeface="IBM Plex Mono"/>
              </a:rPr>
              <a:t>TECHNICAL CO-FOUNDER</a:t>
            </a:r>
          </a:p>
          <a:p>
            <a:pPr algn="l">
              <a:spcAft>
                <a:spcPts val="0"/>
              </a:spcAft>
            </a:pPr>
            <a:r>
              <a:rPr sz="1200" b="0">
                <a:solidFill>
                  <a:srgbClr val="46536B"/>
                </a:solidFill>
                <a:latin typeface="Space Grotesk"/>
              </a:rPr>
              <a:t>Full-stack Solana &amp; security, 100xDevs. Certified auditor, Rektoff · Turbine accelerated builder. Pinocchio native: like our program.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804672" y="2103120"/>
            <a:ext cx="7315200" cy="548640"/>
          </a:xfrm>
          <a:prstGeom prst="rect">
            <a:avLst/>
          </a:prstGeom>
          <a:noFill/>
        </p:spPr>
        <p:txBody>
          <a:bodyPr wrap="square" anchor="t" lIns="0" rIns="0" tIns="0" bIns="0">
            <a:spAutoFit/>
          </a:bodyPr>
          <a:lstStyle/>
          <a:p>
            <a:pPr algn="l">
              <a:spcAft>
                <a:spcPts val="0"/>
              </a:spcAft>
            </a:pPr>
            <a:r>
              <a:rPr sz="2600" b="1">
                <a:solidFill>
                  <a:srgbClr val="10151E"/>
                </a:solidFill>
                <a:latin typeface="Montserrat"/>
              </a:rPr>
              <a:t>C H A R O N</a:t>
            </a:r>
          </a:p>
        </p:txBody>
      </p:sp>
      <p:sp>
        <p:nvSpPr>
          <p:cNvPr id="3" name="TextBox 2"/>
          <p:cNvSpPr txBox="1"/>
          <p:nvPr/>
        </p:nvSpPr>
        <p:spPr>
          <a:xfrm>
            <a:off x="749808" y="2697480"/>
            <a:ext cx="10972800" cy="1280160"/>
          </a:xfrm>
          <a:prstGeom prst="rect">
            <a:avLst/>
          </a:prstGeom>
          <a:noFill/>
        </p:spPr>
        <p:txBody>
          <a:bodyPr wrap="square" anchor="t" lIns="0" rIns="0" tIns="0" bIns="0">
            <a:spAutoFit/>
          </a:bodyPr>
          <a:lstStyle/>
          <a:p>
            <a:pPr algn="l">
              <a:lnSpc>
                <a:spcPct val="98000"/>
              </a:lnSpc>
              <a:spcAft>
                <a:spcPts val="0"/>
              </a:spcAft>
            </a:pPr>
            <a:r>
              <a:rPr sz="7600" b="1">
                <a:solidFill>
                  <a:srgbClr val="10151E"/>
                </a:solidFill>
                <a:latin typeface="Montserrat"/>
              </a:rPr>
              <a:t>THANK YOU.</a:t>
            </a:r>
          </a:p>
        </p:txBody>
      </p:sp>
      <p:sp>
        <p:nvSpPr>
          <p:cNvPr id="4" name="TextBox 3"/>
          <p:cNvSpPr txBox="1"/>
          <p:nvPr/>
        </p:nvSpPr>
        <p:spPr>
          <a:xfrm>
            <a:off x="822960" y="4069080"/>
            <a:ext cx="9144000" cy="822960"/>
          </a:xfrm>
          <a:prstGeom prst="rect">
            <a:avLst/>
          </a:prstGeom>
          <a:noFill/>
        </p:spPr>
        <p:txBody>
          <a:bodyPr wrap="square" anchor="t" lIns="0" rIns="0" tIns="0" bIns="0">
            <a:spAutoFit/>
          </a:bodyPr>
          <a:lstStyle/>
          <a:p>
            <a:pPr algn="l">
              <a:spcAft>
                <a:spcPts val="1000"/>
              </a:spcAft>
            </a:pPr>
            <a:r>
              <a:rPr sz="1500" b="0">
                <a:solidFill>
                  <a:srgbClr val="7C89A0"/>
                </a:solidFill>
                <a:latin typeface="IBM Plex Mono"/>
              </a:rPr>
              <a:t>MONEY NO ONE CAN SEE</a:t>
            </a:r>
          </a:p>
          <a:p>
            <a:pPr algn="l">
              <a:spcAft>
                <a:spcPts val="0"/>
              </a:spcAft>
            </a:pPr>
            <a:r>
              <a:rPr sz="1300" b="0">
                <a:solidFill>
                  <a:srgbClr val="46536B"/>
                </a:solidFill>
                <a:latin typeface="IBM Plex Mono"/>
              </a:rPr>
              <a:t>charon.cash   ·   @Charon_cash</a:t>
            </a:r>
          </a:p>
        </p:txBody>
      </p:sp>
      <p:sp>
        <p:nvSpPr>
          <p:cNvPr id="5" name="TextBox 4"/>
          <p:cNvSpPr txBox="1"/>
          <p:nvPr/>
        </p:nvSpPr>
        <p:spPr>
          <a:xfrm>
            <a:off x="822960" y="6355080"/>
            <a:ext cx="1371600" cy="274320"/>
          </a:xfrm>
          <a:prstGeom prst="rect">
            <a:avLst/>
          </a:prstGeom>
          <a:noFill/>
        </p:spPr>
        <p:txBody>
          <a:bodyPr wrap="square" anchor="t" lIns="0" rIns="0" tIns="0" bIns="0">
            <a:spAutoFit/>
          </a:bodyPr>
          <a:lstStyle/>
          <a:p>
            <a:pPr algn="l">
              <a:spcAft>
                <a:spcPts val="0"/>
              </a:spcAft>
            </a:pPr>
            <a:r>
              <a:rPr sz="1100" b="0">
                <a:solidFill>
                  <a:srgbClr val="7C89A0"/>
                </a:solidFill>
                <a:latin typeface="IBM Plex Mono"/>
              </a:rPr>
              <a:t>09 / 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